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9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82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svg"/><Relationship Id="rId18" Type="http://schemas.openxmlformats.org/officeDocument/2006/relationships/image" Target="../media/image51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45.svg"/><Relationship Id="rId17" Type="http://schemas.openxmlformats.org/officeDocument/2006/relationships/image" Target="../media/image50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9.sv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10" Type="http://schemas.openxmlformats.org/officeDocument/2006/relationships/image" Target="../media/image43.svg"/><Relationship Id="rId19" Type="http://schemas.openxmlformats.org/officeDocument/2006/relationships/image" Target="../media/image52.svg"/><Relationship Id="rId4" Type="http://schemas.openxmlformats.org/officeDocument/2006/relationships/image" Target="../media/image37.svg"/><Relationship Id="rId9" Type="http://schemas.openxmlformats.org/officeDocument/2006/relationships/image" Target="../media/image42.svg"/><Relationship Id="rId14" Type="http://schemas.openxmlformats.org/officeDocument/2006/relationships/image" Target="../media/image4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18" Type="http://schemas.openxmlformats.org/officeDocument/2006/relationships/image" Target="../media/image69.svg"/><Relationship Id="rId3" Type="http://schemas.openxmlformats.org/officeDocument/2006/relationships/image" Target="../media/image54.png"/><Relationship Id="rId7" Type="http://schemas.openxmlformats.org/officeDocument/2006/relationships/image" Target="../media/image58.svg"/><Relationship Id="rId12" Type="http://schemas.openxmlformats.org/officeDocument/2006/relationships/image" Target="../media/image63.svg"/><Relationship Id="rId17" Type="http://schemas.openxmlformats.org/officeDocument/2006/relationships/image" Target="../media/image68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svg"/><Relationship Id="rId11" Type="http://schemas.openxmlformats.org/officeDocument/2006/relationships/image" Target="../media/image62.svg"/><Relationship Id="rId5" Type="http://schemas.openxmlformats.org/officeDocument/2006/relationships/image" Target="../media/image56.png"/><Relationship Id="rId15" Type="http://schemas.openxmlformats.org/officeDocument/2006/relationships/image" Target="../media/image66.svg"/><Relationship Id="rId10" Type="http://schemas.openxmlformats.org/officeDocument/2006/relationships/image" Target="../media/image61.svg"/><Relationship Id="rId19" Type="http://schemas.openxmlformats.org/officeDocument/2006/relationships/image" Target="../media/image70.svg"/><Relationship Id="rId4" Type="http://schemas.openxmlformats.org/officeDocument/2006/relationships/image" Target="../media/image55.png"/><Relationship Id="rId9" Type="http://schemas.openxmlformats.org/officeDocument/2006/relationships/image" Target="../media/image60.svg"/><Relationship Id="rId14" Type="http://schemas.openxmlformats.org/officeDocument/2006/relationships/image" Target="../media/image6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3" Type="http://schemas.openxmlformats.org/officeDocument/2006/relationships/image" Target="../media/image72.svg"/><Relationship Id="rId7" Type="http://schemas.openxmlformats.org/officeDocument/2006/relationships/image" Target="../media/image76.svg"/><Relationship Id="rId12" Type="http://schemas.openxmlformats.org/officeDocument/2006/relationships/image" Target="../media/image8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5" Type="http://schemas.openxmlformats.org/officeDocument/2006/relationships/image" Target="../media/image74.sv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sv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12" Type="http://schemas.openxmlformats.org/officeDocument/2006/relationships/image" Target="../media/image92.svg"/><Relationship Id="rId17" Type="http://schemas.openxmlformats.org/officeDocument/2006/relationships/image" Target="../media/image9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11" Type="http://schemas.openxmlformats.org/officeDocument/2006/relationships/image" Target="../media/image91.svg"/><Relationship Id="rId5" Type="http://schemas.openxmlformats.org/officeDocument/2006/relationships/image" Target="../media/image85.svg"/><Relationship Id="rId15" Type="http://schemas.openxmlformats.org/officeDocument/2006/relationships/image" Target="../media/image95.svg"/><Relationship Id="rId10" Type="http://schemas.openxmlformats.org/officeDocument/2006/relationships/image" Target="../media/image90.svg"/><Relationship Id="rId4" Type="http://schemas.openxmlformats.org/officeDocument/2006/relationships/image" Target="../media/image84.svg"/><Relationship Id="rId9" Type="http://schemas.openxmlformats.org/officeDocument/2006/relationships/image" Target="../media/image89.svg"/><Relationship Id="rId14" Type="http://schemas.openxmlformats.org/officeDocument/2006/relationships/image" Target="../media/image9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3" Type="http://schemas.openxmlformats.org/officeDocument/2006/relationships/image" Target="../media/image98.svg"/><Relationship Id="rId7" Type="http://schemas.openxmlformats.org/officeDocument/2006/relationships/image" Target="../media/image10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svg"/><Relationship Id="rId5" Type="http://schemas.openxmlformats.org/officeDocument/2006/relationships/image" Target="../media/image100.svg"/><Relationship Id="rId4" Type="http://schemas.openxmlformats.org/officeDocument/2006/relationships/image" Target="../media/image99.svg"/><Relationship Id="rId9" Type="http://schemas.openxmlformats.org/officeDocument/2006/relationships/image" Target="../media/image10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svg"/><Relationship Id="rId7" Type="http://schemas.openxmlformats.org/officeDocument/2006/relationships/image" Target="../media/image109.svg"/><Relationship Id="rId12" Type="http://schemas.openxmlformats.org/officeDocument/2006/relationships/image" Target="../media/image1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svg"/><Relationship Id="rId11" Type="http://schemas.openxmlformats.org/officeDocument/2006/relationships/image" Target="../media/image113.svg"/><Relationship Id="rId5" Type="http://schemas.openxmlformats.org/officeDocument/2006/relationships/image" Target="../media/image107.svg"/><Relationship Id="rId10" Type="http://schemas.openxmlformats.org/officeDocument/2006/relationships/image" Target="../media/image112.svg"/><Relationship Id="rId4" Type="http://schemas.openxmlformats.org/officeDocument/2006/relationships/image" Target="../media/image106.svg"/><Relationship Id="rId9" Type="http://schemas.openxmlformats.org/officeDocument/2006/relationships/image" Target="../media/image1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svg"/><Relationship Id="rId12" Type="http://schemas.openxmlformats.org/officeDocument/2006/relationships/image" Target="../media/image1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svg"/><Relationship Id="rId11" Type="http://schemas.openxmlformats.org/officeDocument/2006/relationships/image" Target="../media/image123.svg"/><Relationship Id="rId5" Type="http://schemas.openxmlformats.org/officeDocument/2006/relationships/image" Target="../media/image117.png"/><Relationship Id="rId10" Type="http://schemas.openxmlformats.org/officeDocument/2006/relationships/image" Target="../media/image122.svg"/><Relationship Id="rId4" Type="http://schemas.openxmlformats.org/officeDocument/2006/relationships/image" Target="../media/image116.png"/><Relationship Id="rId9" Type="http://schemas.openxmlformats.org/officeDocument/2006/relationships/image" Target="../media/image12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13" Type="http://schemas.openxmlformats.org/officeDocument/2006/relationships/image" Target="../media/image135.svg"/><Relationship Id="rId3" Type="http://schemas.openxmlformats.org/officeDocument/2006/relationships/image" Target="../media/image125.svg"/><Relationship Id="rId7" Type="http://schemas.openxmlformats.org/officeDocument/2006/relationships/image" Target="../media/image129.svg"/><Relationship Id="rId12" Type="http://schemas.openxmlformats.org/officeDocument/2006/relationships/image" Target="../media/image134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svg"/><Relationship Id="rId11" Type="http://schemas.openxmlformats.org/officeDocument/2006/relationships/image" Target="../media/image133.svg"/><Relationship Id="rId5" Type="http://schemas.openxmlformats.org/officeDocument/2006/relationships/image" Target="../media/image127.svg"/><Relationship Id="rId15" Type="http://schemas.openxmlformats.org/officeDocument/2006/relationships/image" Target="../media/image137.svg"/><Relationship Id="rId10" Type="http://schemas.openxmlformats.org/officeDocument/2006/relationships/image" Target="../media/image132.svg"/><Relationship Id="rId4" Type="http://schemas.openxmlformats.org/officeDocument/2006/relationships/image" Target="../media/image126.svg"/><Relationship Id="rId9" Type="http://schemas.openxmlformats.org/officeDocument/2006/relationships/image" Target="../media/image131.svg"/><Relationship Id="rId14" Type="http://schemas.openxmlformats.org/officeDocument/2006/relationships/image" Target="../media/image1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svg"/><Relationship Id="rId3" Type="http://schemas.openxmlformats.org/officeDocument/2006/relationships/image" Target="../media/image139.svg"/><Relationship Id="rId7" Type="http://schemas.openxmlformats.org/officeDocument/2006/relationships/image" Target="../media/image14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svg"/><Relationship Id="rId5" Type="http://schemas.openxmlformats.org/officeDocument/2006/relationships/image" Target="../media/image141.svg"/><Relationship Id="rId4" Type="http://schemas.openxmlformats.org/officeDocument/2006/relationships/image" Target="../media/image140.svg"/><Relationship Id="rId9" Type="http://schemas.openxmlformats.org/officeDocument/2006/relationships/image" Target="../media/image14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8.svg"/><Relationship Id="rId4" Type="http://schemas.openxmlformats.org/officeDocument/2006/relationships/image" Target="../media/image1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28000" t="50000" r="72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FF">
                  <a:alpha val="9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12000" t="80000" r="88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5000" t="20000" r="15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-9525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D1A">
                  <a:alpha val="97000"/>
                </a:srgbClr>
              </a:gs>
              <a:gs pos="38000">
                <a:srgbClr val="050D1A">
                  <a:alpha val="93000"/>
                </a:srgbClr>
              </a:gs>
              <a:gs pos="62000">
                <a:srgbClr val="050D1A">
                  <a:alpha val="72000"/>
                </a:srgbClr>
              </a:gs>
              <a:gs pos="100000">
                <a:srgbClr val="050D1A">
                  <a:alpha val="18000"/>
                </a:srgbClr>
              </a:gs>
            </a:gsLst>
            <a:lin ang="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9FF">
                  <a:alpha val="25000"/>
                </a:srgbClr>
              </a:gs>
              <a:gs pos="50000">
                <a:srgbClr val="00C9FF">
                  <a:alpha val="50000"/>
                </a:srgbClr>
              </a:gs>
              <a:gs pos="70000">
                <a:srgbClr val="00C9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134475" y="4714280"/>
            <a:ext cx="9525" cy="429220"/>
          </a:xfrm>
          <a:prstGeom prst="rect">
            <a:avLst/>
          </a:prstGeom>
          <a:solidFill>
            <a:srgbClr val="00C9FF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22579" y="1107430"/>
            <a:ext cx="35421" cy="35421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28359" y="2214860"/>
            <a:ext cx="29170" cy="2917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21450" y="3499991"/>
            <a:ext cx="21580" cy="2158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56859" y="4215110"/>
            <a:ext cx="29170" cy="2917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78810" y="1821061"/>
            <a:ext cx="21580" cy="2158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00750" y="1428750"/>
            <a:ext cx="2286000" cy="2286000"/>
          </a:xfrm>
          <a:prstGeom prst="ellipse">
            <a:avLst/>
          </a:prstGeom>
          <a:noFill/>
          <a:ln w="9525">
            <a:solidFill>
              <a:srgbClr val="00C9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57789" y="1785640"/>
            <a:ext cx="1572220" cy="1572220"/>
          </a:xfrm>
          <a:prstGeom prst="ellipse">
            <a:avLst/>
          </a:prstGeom>
          <a:noFill/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80448" y="2107629"/>
            <a:ext cx="928241" cy="928241"/>
          </a:xfrm>
          <a:prstGeom prst="ellipse">
            <a:avLst/>
          </a:prstGeom>
          <a:noFill/>
          <a:ln w="9525">
            <a:solidFill>
              <a:srgbClr val="00C9FF">
                <a:alpha val="3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65169" y="2493020"/>
            <a:ext cx="157460" cy="1574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15759" y="1785491"/>
            <a:ext cx="70991" cy="70991"/>
          </a:xfrm>
          <a:prstGeom prst="ellipse">
            <a:avLst/>
          </a:prstGeom>
          <a:solidFill>
            <a:srgbClr val="00C9FF">
              <a:alpha val="9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215759" y="3429000"/>
            <a:ext cx="57150" cy="57150"/>
          </a:xfrm>
          <a:prstGeom prst="ellipse">
            <a:avLst/>
          </a:prstGeom>
          <a:solidFill>
            <a:srgbClr val="00C9FF">
              <a:alpha val="8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114580" y="1442591"/>
            <a:ext cx="64740" cy="64740"/>
          </a:xfrm>
          <a:prstGeom prst="ellipse">
            <a:avLst/>
          </a:prstGeom>
          <a:solidFill>
            <a:srgbClr val="00C9FF">
              <a:alpha val="85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22479" y="3000970"/>
            <a:ext cx="49411" cy="49411"/>
          </a:xfrm>
          <a:prstGeom prst="ellipse">
            <a:avLst/>
          </a:prstGeom>
          <a:solidFill>
            <a:srgbClr val="00C9FF">
              <a:alpha val="75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80598" y="1799481"/>
            <a:ext cx="49411" cy="49411"/>
          </a:xfrm>
          <a:prstGeom prst="ellipse">
            <a:avLst/>
          </a:prstGeom>
          <a:solidFill>
            <a:srgbClr val="00C9FF">
              <a:alpha val="75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871520" y="3286720"/>
            <a:ext cx="43160" cy="43160"/>
          </a:xfrm>
          <a:prstGeom prst="ellipse">
            <a:avLst/>
          </a:prstGeom>
          <a:solidFill>
            <a:srgbClr val="00C9FF">
              <a:alpha val="7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472190" y="714970"/>
            <a:ext cx="100310" cy="10031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643789" y="4286250"/>
            <a:ext cx="70991" cy="70991"/>
          </a:xfrm>
          <a:prstGeom prst="ellipse">
            <a:avLst/>
          </a:prstGeom>
          <a:solidFill>
            <a:srgbClr val="00C9FF">
              <a:alpha val="55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371630" y="571500"/>
            <a:ext cx="57150" cy="57150"/>
          </a:xfrm>
          <a:prstGeom prst="ellipse">
            <a:avLst/>
          </a:prstGeom>
          <a:solidFill>
            <a:srgbClr val="00C9FF">
              <a:alpha val="65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593979" y="4572000"/>
            <a:ext cx="49411" cy="4941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5742" y="2448446"/>
            <a:ext cx="246608" cy="246608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0" y="0"/>
            <a:ext cx="4857750" cy="51435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4350" y="774799"/>
            <a:ext cx="1479947" cy="258336"/>
          </a:xfrm>
          <a:prstGeom prst="roundRect">
            <a:avLst>
              <a:gd name="adj" fmla="val 138142"/>
            </a:avLst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638175" y="870645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14349" y="1281410"/>
            <a:ext cx="5336680" cy="1007567"/>
          </a:xfrm>
          <a:prstGeom prst="rect">
            <a:avLst/>
          </a:prstGeom>
          <a:noFill/>
          <a:ln/>
          <a:effectLst>
            <a:outerShdw blurRad="228600" dist="13970" dir="5400000" algn="bl" rotWithShape="0">
              <a:srgbClr val="00C9FF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>
              <a:lnSpc>
                <a:spcPts val="3586"/>
              </a:lnSpc>
            </a:pPr>
            <a:r>
              <a:rPr lang="en-US" sz="3260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Enterprise Applications To </a:t>
            </a:r>
            <a:r>
              <a:rPr lang="en-US" sz="3260" b="1" kern="0" spc="-30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</a:t>
            </a:r>
            <a:r>
              <a:rPr lang="en-US" sz="3260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Systems</a:t>
            </a:r>
            <a:br>
              <a:rPr dirty="0"/>
            </a:br>
            <a:r>
              <a:rPr lang="en-US" sz="3260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br>
              <a:rPr dirty="0"/>
            </a:br>
            <a:r>
              <a:rPr lang="en-US" sz="3260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3260" dirty="0"/>
          </a:p>
        </p:txBody>
      </p:sp>
      <p:sp>
        <p:nvSpPr>
          <p:cNvPr id="33" name="Text 28"/>
          <p:cNvSpPr/>
          <p:nvPr/>
        </p:nvSpPr>
        <p:spPr>
          <a:xfrm>
            <a:off x="514350" y="2524941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07505" y="2699881"/>
            <a:ext cx="4080510" cy="46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6"/>
              </a:lnSpc>
              <a:buNone/>
            </a:pPr>
            <a:r>
              <a:rPr lang="en-US" sz="2000" kern="0" spc="12" dirty="0">
                <a:solidFill>
                  <a:srgbClr val="00C9FF"/>
                </a:solidFill>
                <a:effectLst>
                  <a:glow rad="320676">
                    <a:srgbClr val="00C9FF">
                      <a:alpha val="75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Software with Angular,</a:t>
            </a:r>
            <a:br>
              <a:rPr sz="2000" dirty="0"/>
            </a:br>
            <a:r>
              <a:rPr lang="en-US" sz="2000" kern="0" spc="12" dirty="0">
                <a:solidFill>
                  <a:srgbClr val="00C9FF"/>
                </a:solidFill>
                <a:effectLst>
                  <a:glow rad="320676">
                    <a:srgbClr val="00C9FF">
                      <a:alpha val="75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and AI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14350" y="3357860"/>
            <a:ext cx="3929717" cy="229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560"/>
              </a:spcBef>
              <a:buNone/>
            </a:pPr>
            <a:r>
              <a:rPr lang="en-US" sz="790" kern="0" spc="47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Image, Vision and Computing 2026</a:t>
            </a:r>
            <a:endParaRPr lang="en-US" sz="790" dirty="0"/>
          </a:p>
        </p:txBody>
      </p:sp>
      <p:sp>
        <p:nvSpPr>
          <p:cNvPr id="36" name="Text 31"/>
          <p:cNvSpPr/>
          <p:nvPr/>
        </p:nvSpPr>
        <p:spPr>
          <a:xfrm>
            <a:off x="514350" y="3788420"/>
            <a:ext cx="2000250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14350" y="3939480"/>
            <a:ext cx="429220" cy="429220"/>
          </a:xfrm>
          <a:prstGeom prst="ellipse">
            <a:avLst/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70000"/>
              </a:srgbClr>
            </a:solidFill>
          </a:ln>
          <a:effectLst>
            <a:outerShdw blurRad="71120" dist="50800" dir="16200000" algn="bl" rotWithShape="0">
              <a:srgbClr val="00C9FF">
                <a:alpha val="5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 t="1456" b="1456"/>
          <a:stretch/>
        </p:blipFill>
        <p:spPr>
          <a:xfrm>
            <a:off x="523875" y="3949005"/>
            <a:ext cx="410170" cy="410170"/>
          </a:xfrm>
          <a:prstGeom prst="roundRect">
            <a:avLst>
              <a:gd name="adj" fmla="val 50000"/>
            </a:avLst>
          </a:prstGeom>
        </p:spPr>
      </p:pic>
      <p:sp>
        <p:nvSpPr>
          <p:cNvPr id="39" name="Text 33"/>
          <p:cNvSpPr/>
          <p:nvPr/>
        </p:nvSpPr>
        <p:spPr>
          <a:xfrm>
            <a:off x="1043880" y="3982343"/>
            <a:ext cx="193146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Manju George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1043880" y="4186684"/>
            <a:ext cx="19314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2" dirty="0">
                <a:solidFill>
                  <a:srgbClr val="00C9FF"/>
                </a:solidFill>
                <a:effectLst>
                  <a:glow rad="177800">
                    <a:srgbClr val="00C9FF">
                      <a:alpha val="9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 | Staff Software Engineer</a:t>
            </a:r>
            <a:endParaRPr lang="en-US" sz="730" dirty="0"/>
          </a:p>
        </p:txBody>
      </p:sp>
      <p:sp>
        <p:nvSpPr>
          <p:cNvPr id="41" name="Text 35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9FF">
                  <a:alpha val="55000"/>
                </a:srgbClr>
              </a:gs>
              <a:gs pos="50000">
                <a:srgbClr val="00B4FF">
                  <a:alpha val="90000"/>
                </a:srgbClr>
              </a:gs>
              <a:gs pos="70000">
                <a:srgbClr val="00C9FF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561" y="0"/>
            <a:ext cx="7132439" cy="21580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1561" y="5129659"/>
            <a:ext cx="7132439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1561" y="429220"/>
            <a:ext cx="13841" cy="42862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40000"/>
                </a:srgbClr>
              </a:gs>
              <a:gs pos="8000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9859" r="29859"/>
          <a:stretch/>
        </p:blipFill>
        <p:spPr>
          <a:xfrm>
            <a:off x="0" y="0"/>
            <a:ext cx="2011561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7311" y="1130350"/>
            <a:ext cx="69025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162" dirty="0">
                <a:solidFill>
                  <a:srgbClr val="00C9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SPEAKER · ICIVC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97311" y="1388120"/>
            <a:ext cx="6588792" cy="40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68"/>
              </a:lnSpc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Manju George</a:t>
            </a:r>
            <a:endParaRPr lang="en-US" sz="2880" dirty="0"/>
          </a:p>
        </p:txBody>
      </p:sp>
      <p:sp>
        <p:nvSpPr>
          <p:cNvPr id="8" name="Text 5"/>
          <p:cNvSpPr/>
          <p:nvPr/>
        </p:nvSpPr>
        <p:spPr>
          <a:xfrm>
            <a:off x="2297311" y="1847553"/>
            <a:ext cx="6902544" cy="18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32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 | Staff Software Engineer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2297311" y="2562225"/>
            <a:ext cx="35421" cy="35421"/>
          </a:xfrm>
          <a:prstGeom prst="rect">
            <a:avLst/>
          </a:pr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419052" y="2478584"/>
            <a:ext cx="321561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Years in Enterprise Software Engineering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2297311" y="2865239"/>
            <a:ext cx="35421" cy="35421"/>
          </a:xfrm>
          <a:prstGeom prst="rect">
            <a:avLst/>
          </a:pr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419052" y="2781598"/>
            <a:ext cx="328993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— AI, Cloud &amp; Enterprise Systems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297311" y="3168253"/>
            <a:ext cx="35421" cy="35421"/>
          </a:xfrm>
          <a:prstGeom prst="rect">
            <a:avLst/>
          </a:pr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419052" y="3084612"/>
            <a:ext cx="340715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Research Peer Reviews , Judging Assignments &amp; Conference Presentations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2297311" y="3471267"/>
            <a:ext cx="35421" cy="35421"/>
          </a:xfrm>
          <a:prstGeom prst="rect">
            <a:avLst/>
          </a:pr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19052" y="3387626"/>
            <a:ext cx="370576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 Member &amp; Reviewer, International Conferences</a:t>
            </a:r>
            <a:endParaRPr lang="en-US" sz="114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9088" y="3849672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64445" y="3818930"/>
            <a:ext cx="2019047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linkedin.com/in/manjugeorge-ge</a:t>
            </a:r>
            <a:endParaRPr lang="en-US" sz="1020" dirty="0"/>
          </a:p>
        </p:txBody>
      </p:sp>
      <p:sp>
        <p:nvSpPr>
          <p:cNvPr id="19" name="Text 15"/>
          <p:cNvSpPr/>
          <p:nvPr/>
        </p:nvSpPr>
        <p:spPr>
          <a:xfrm>
            <a:off x="1582341" y="0"/>
            <a:ext cx="42922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50D1A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142059"/>
            <a:ext cx="1572220" cy="1857970"/>
          </a:xfrm>
          <a:prstGeom prst="ellipse">
            <a:avLst/>
          </a:prstGeom>
          <a:gradFill rotWithShape="1">
            <a:gsLst>
              <a:gs pos="0">
                <a:srgbClr val="0064C8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57770"/>
            <a:ext cx="1274564" cy="198254"/>
          </a:xfrm>
          <a:prstGeom prst="roundRect">
            <a:avLst>
              <a:gd name="adj" fmla="val 180007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57200" y="508992"/>
            <a:ext cx="325785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We'll Explore </a:t>
            </a:r>
            <a:r>
              <a:rPr lang="en-US" sz="2140" b="1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</a:t>
            </a:r>
            <a:endParaRPr lang="en-US" sz="2140" dirty="0"/>
          </a:p>
        </p:txBody>
      </p:sp>
      <p:sp>
        <p:nvSpPr>
          <p:cNvPr id="8" name="Text 6"/>
          <p:cNvSpPr/>
          <p:nvPr/>
        </p:nvSpPr>
        <p:spPr>
          <a:xfrm>
            <a:off x="457200" y="857250"/>
            <a:ext cx="20002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253430"/>
            <a:ext cx="4071640" cy="985986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253430"/>
            <a:ext cx="19050" cy="985986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4391" y="1596628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893" y="1680130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4292" y="1560314"/>
            <a:ext cx="20909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1004292" y="1678335"/>
            <a:ext cx="209091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Enterprise Landscape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004292" y="1820168"/>
            <a:ext cx="209091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Monoliths, SOA, and where we started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4615160" y="1253430"/>
            <a:ext cx="4071640" cy="985986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15160" y="1253430"/>
            <a:ext cx="19050" cy="985986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62351" y="1596628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5853" y="1680130"/>
            <a:ext cx="132588" cy="132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2252" y="1560314"/>
            <a:ext cx="206570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22" name="Text 18"/>
          <p:cNvSpPr/>
          <p:nvPr/>
        </p:nvSpPr>
        <p:spPr>
          <a:xfrm>
            <a:off x="5162252" y="1678335"/>
            <a:ext cx="206570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AI-Native Really Means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5162252" y="1820168"/>
            <a:ext cx="206570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 and foundational concepts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457200" y="2325737"/>
            <a:ext cx="4071640" cy="986135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57200" y="2325737"/>
            <a:ext cx="19050" cy="986135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04391" y="266893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893" y="2752436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4292" y="2632770"/>
            <a:ext cx="25704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1004292" y="2750790"/>
            <a:ext cx="257042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Stack: Angular + Spring Boot + AI</a:t>
            </a:r>
            <a:endParaRPr lang="en-US" sz="840" dirty="0"/>
          </a:p>
        </p:txBody>
      </p:sp>
      <p:sp>
        <p:nvSpPr>
          <p:cNvPr id="30" name="Text 25"/>
          <p:cNvSpPr/>
          <p:nvPr/>
        </p:nvSpPr>
        <p:spPr>
          <a:xfrm>
            <a:off x="1004292" y="2892623"/>
            <a:ext cx="257042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tech triad and its synergies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4615160" y="2325737"/>
            <a:ext cx="4071640" cy="986135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615160" y="2325737"/>
            <a:ext cx="19050" cy="986135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762351" y="266893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5853" y="2752436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162252" y="2632770"/>
            <a:ext cx="23025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5162252" y="2750790"/>
            <a:ext cx="23025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APIs &amp; AI-Powered UX</a:t>
            </a:r>
            <a:endParaRPr lang="en-US" sz="840" dirty="0"/>
          </a:p>
        </p:txBody>
      </p:sp>
      <p:sp>
        <p:nvSpPr>
          <p:cNvPr id="37" name="Text 31"/>
          <p:cNvSpPr/>
          <p:nvPr/>
        </p:nvSpPr>
        <p:spPr>
          <a:xfrm>
            <a:off x="5162252" y="2892623"/>
            <a:ext cx="23025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gateways, RAG pipelines, and adaptive interfaces</a:t>
            </a:r>
            <a:endParaRPr lang="en-US" sz="680" dirty="0"/>
          </a:p>
        </p:txBody>
      </p:sp>
      <p:sp>
        <p:nvSpPr>
          <p:cNvPr id="38" name="Text 32"/>
          <p:cNvSpPr/>
          <p:nvPr/>
        </p:nvSpPr>
        <p:spPr>
          <a:xfrm>
            <a:off x="457200" y="3398193"/>
            <a:ext cx="4071640" cy="986135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57200" y="3398193"/>
            <a:ext cx="19050" cy="986135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04391" y="3741390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893" y="3824892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04292" y="3705225"/>
            <a:ext cx="24275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43" name="Text 36"/>
          <p:cNvSpPr/>
          <p:nvPr/>
        </p:nvSpPr>
        <p:spPr>
          <a:xfrm>
            <a:off x="1004292" y="3823246"/>
            <a:ext cx="242750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Impact: Enterprise &amp; Healthcare</a:t>
            </a:r>
            <a:endParaRPr lang="en-US" sz="840" dirty="0"/>
          </a:p>
        </p:txBody>
      </p:sp>
      <p:sp>
        <p:nvSpPr>
          <p:cNvPr id="44" name="Text 37"/>
          <p:cNvSpPr/>
          <p:nvPr/>
        </p:nvSpPr>
        <p:spPr>
          <a:xfrm>
            <a:off x="1004292" y="3965079"/>
            <a:ext cx="242750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and production case studies</a:t>
            </a:r>
            <a:endParaRPr lang="en-US" sz="680" dirty="0"/>
          </a:p>
        </p:txBody>
      </p:sp>
      <p:sp>
        <p:nvSpPr>
          <p:cNvPr id="45" name="Text 38"/>
          <p:cNvSpPr/>
          <p:nvPr/>
        </p:nvSpPr>
        <p:spPr>
          <a:xfrm>
            <a:off x="4615160" y="3398193"/>
            <a:ext cx="4071640" cy="986135"/>
          </a:xfrm>
          <a:prstGeom prst="rect">
            <a:avLst/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615160" y="3398193"/>
            <a:ext cx="19050" cy="986135"/>
          </a:xfrm>
          <a:prstGeom prst="rect">
            <a:avLst/>
          </a:pr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762351" y="3741390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71120" dist="50800" dir="16200000" algn="bl" rotWithShape="0">
              <a:srgbClr val="00C9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5853" y="3824892"/>
            <a:ext cx="132588" cy="13258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162252" y="3705225"/>
            <a:ext cx="261217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00C9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50" name="Text 42"/>
          <p:cNvSpPr/>
          <p:nvPr/>
        </p:nvSpPr>
        <p:spPr>
          <a:xfrm>
            <a:off x="5162252" y="3823246"/>
            <a:ext cx="261217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Security, Governance &amp; Ethics</a:t>
            </a:r>
            <a:endParaRPr lang="en-US" sz="840" dirty="0"/>
          </a:p>
        </p:txBody>
      </p:sp>
      <p:sp>
        <p:nvSpPr>
          <p:cNvPr id="51" name="Text 43"/>
          <p:cNvSpPr/>
          <p:nvPr/>
        </p:nvSpPr>
        <p:spPr>
          <a:xfrm>
            <a:off x="5162252" y="3965079"/>
            <a:ext cx="261217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compliance, and explainability by design</a:t>
            </a:r>
            <a:endParaRPr lang="en-US" sz="680" dirty="0"/>
          </a:p>
        </p:txBody>
      </p:sp>
      <p:sp>
        <p:nvSpPr>
          <p:cNvPr id="52" name="Text 44"/>
          <p:cNvSpPr/>
          <p:nvPr/>
        </p:nvSpPr>
        <p:spPr>
          <a:xfrm>
            <a:off x="457200" y="4727674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557510" y="4684514"/>
            <a:ext cx="266848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Image, Vision and Computing</a:t>
            </a:r>
            <a:endParaRPr lang="en-US" sz="680" dirty="0"/>
          </a:p>
        </p:txBody>
      </p:sp>
      <p:sp>
        <p:nvSpPr>
          <p:cNvPr id="57" name="Text 49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76250" y="1132050"/>
            <a:ext cx="4052592" cy="98599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4634210" y="1196786"/>
            <a:ext cx="4052592" cy="98599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476250" y="2325737"/>
            <a:ext cx="4052592" cy="986133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4634210" y="2325737"/>
            <a:ext cx="4052592" cy="986133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476250" y="3398193"/>
            <a:ext cx="4052592" cy="986133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4634210" y="3398193"/>
            <a:ext cx="4052592" cy="986133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4000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1030"/>
            <a:ext cx="4715470" cy="357247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559" y="0"/>
            <a:ext cx="4287441" cy="5143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2843138"/>
            <a:ext cx="8229600" cy="21580"/>
          </a:xfrm>
          <a:prstGeom prst="rect">
            <a:avLst/>
          </a:prstGeom>
          <a:gradFill rotWithShape="1">
            <a:gsLst>
              <a:gs pos="0">
                <a:srgbClr val="0064C8">
                  <a:alpha val="30000"/>
                </a:srgbClr>
              </a:gs>
              <a:gs pos="30000">
                <a:srgbClr val="00B4FF">
                  <a:alpha val="70000"/>
                </a:srgbClr>
              </a:gs>
              <a:gs pos="70000">
                <a:srgbClr val="00C9FF">
                  <a:alpha val="90000"/>
                </a:srgbClr>
              </a:gs>
              <a:gs pos="100000">
                <a:srgbClr val="00C9FF"/>
              </a:gs>
            </a:gsLst>
            <a:lin ang="0" scaled="1"/>
          </a:gradFill>
          <a:ln/>
          <a:effectLst>
            <a:outerShdw blurRad="71120" dist="50800" dir="16200000" algn="bl" rotWithShape="0">
              <a:srgbClr val="00C9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599331" y="1675805"/>
            <a:ext cx="1572220" cy="1241375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723156" y="178564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673" y="1848157"/>
            <a:ext cx="132588" cy="132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3156" y="2100560"/>
            <a:ext cx="14570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 – 2000</a:t>
            </a:r>
            <a:endParaRPr lang="en-US" sz="620" dirty="0"/>
          </a:p>
        </p:txBody>
      </p:sp>
      <p:sp>
        <p:nvSpPr>
          <p:cNvPr id="12" name="Text 6"/>
          <p:cNvSpPr/>
          <p:nvPr/>
        </p:nvSpPr>
        <p:spPr>
          <a:xfrm>
            <a:off x="723156" y="2247751"/>
            <a:ext cx="145702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Monolithic Era</a:t>
            </a:r>
            <a:endParaRPr lang="en-US" sz="840" dirty="0"/>
          </a:p>
        </p:txBody>
      </p:sp>
      <p:sp>
        <p:nvSpPr>
          <p:cNvPr id="13" name="Text 7"/>
          <p:cNvSpPr/>
          <p:nvPr/>
        </p:nvSpPr>
        <p:spPr>
          <a:xfrm>
            <a:off x="723156" y="2418904"/>
            <a:ext cx="1351062" cy="40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systems, on-premise deployments, predefined business rules</a:t>
            </a:r>
            <a:endParaRPr lang="en-US" sz="680" dirty="0"/>
          </a:p>
        </p:txBody>
      </p:sp>
      <p:sp>
        <p:nvSpPr>
          <p:cNvPr id="14" name="Text 8"/>
          <p:cNvSpPr/>
          <p:nvPr/>
        </p:nvSpPr>
        <p:spPr>
          <a:xfrm>
            <a:off x="1378446" y="3045321"/>
            <a:ext cx="13841" cy="143470"/>
          </a:xfrm>
          <a:prstGeom prst="rect">
            <a:avLst/>
          </a:prstGeom>
          <a:solidFill>
            <a:srgbClr val="00C9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3455045" y="2583656"/>
            <a:ext cx="13841" cy="143470"/>
          </a:xfrm>
          <a:prstGeom prst="rect">
            <a:avLst/>
          </a:prstGeom>
          <a:solidFill>
            <a:srgbClr val="00C9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2675930" y="2855268"/>
            <a:ext cx="1572220" cy="1111895"/>
          </a:xfrm>
          <a:prstGeom prst="roundRect">
            <a:avLst>
              <a:gd name="adj" fmla="val 7767"/>
            </a:avLst>
          </a:prstGeom>
          <a:solidFill>
            <a:srgbClr val="0D1F3A"/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2799755" y="296510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2271" y="3027619"/>
            <a:ext cx="132588" cy="132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99755" y="3280023"/>
            <a:ext cx="14570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2015</a:t>
            </a:r>
            <a:endParaRPr lang="en-US" sz="620" dirty="0"/>
          </a:p>
        </p:txBody>
      </p:sp>
      <p:sp>
        <p:nvSpPr>
          <p:cNvPr id="20" name="Text 13"/>
          <p:cNvSpPr/>
          <p:nvPr/>
        </p:nvSpPr>
        <p:spPr>
          <a:xfrm>
            <a:off x="2799755" y="3427214"/>
            <a:ext cx="145702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Service-Oriented Era</a:t>
            </a:r>
            <a:endParaRPr lang="en-US" sz="840" dirty="0"/>
          </a:p>
        </p:txBody>
      </p:sp>
      <p:sp>
        <p:nvSpPr>
          <p:cNvPr id="21" name="Text 14"/>
          <p:cNvSpPr/>
          <p:nvPr/>
        </p:nvSpPr>
        <p:spPr>
          <a:xfrm>
            <a:off x="2799755" y="3598366"/>
            <a:ext cx="135106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SOA, ESB, early web services, distributed components</a:t>
            </a:r>
            <a:endParaRPr lang="en-US" sz="680" dirty="0"/>
          </a:p>
        </p:txBody>
      </p:sp>
      <p:sp>
        <p:nvSpPr>
          <p:cNvPr id="22" name="Text 15"/>
          <p:cNvSpPr/>
          <p:nvPr/>
        </p:nvSpPr>
        <p:spPr>
          <a:xfrm>
            <a:off x="4752380" y="1740545"/>
            <a:ext cx="1572220" cy="1111895"/>
          </a:xfrm>
          <a:prstGeom prst="roundRect">
            <a:avLst>
              <a:gd name="adj" fmla="val 7767"/>
            </a:avLst>
          </a:prstGeom>
          <a:solidFill>
            <a:srgbClr val="0D1F3A"/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4876205" y="185038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8721" y="1912897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76205" y="2165300"/>
            <a:ext cx="14570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2022</a:t>
            </a:r>
            <a:endParaRPr lang="en-US" sz="620" dirty="0"/>
          </a:p>
        </p:txBody>
      </p:sp>
      <p:sp>
        <p:nvSpPr>
          <p:cNvPr id="26" name="Text 18"/>
          <p:cNvSpPr/>
          <p:nvPr/>
        </p:nvSpPr>
        <p:spPr>
          <a:xfrm>
            <a:off x="4876205" y="2312491"/>
            <a:ext cx="145702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Cloud-Native Era</a:t>
            </a:r>
            <a:endParaRPr lang="en-US" sz="840" dirty="0"/>
          </a:p>
        </p:txBody>
      </p:sp>
      <p:sp>
        <p:nvSpPr>
          <p:cNvPr id="27" name="Text 19"/>
          <p:cNvSpPr/>
          <p:nvPr/>
        </p:nvSpPr>
        <p:spPr>
          <a:xfrm>
            <a:off x="4876205" y="2483644"/>
            <a:ext cx="135106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containers, DevOps, API-first design</a:t>
            </a:r>
            <a:endParaRPr lang="en-US" sz="680" dirty="0"/>
          </a:p>
        </p:txBody>
      </p:sp>
      <p:sp>
        <p:nvSpPr>
          <p:cNvPr id="28" name="Text 20"/>
          <p:cNvSpPr/>
          <p:nvPr/>
        </p:nvSpPr>
        <p:spPr>
          <a:xfrm>
            <a:off x="5531495" y="2980581"/>
            <a:ext cx="13841" cy="143470"/>
          </a:xfrm>
          <a:prstGeom prst="rect">
            <a:avLst/>
          </a:prstGeom>
          <a:solidFill>
            <a:srgbClr val="00C9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7679829" y="2589907"/>
            <a:ext cx="13841" cy="143470"/>
          </a:xfrm>
          <a:prstGeom prst="rect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829574" y="2861518"/>
            <a:ext cx="1714500" cy="1171873"/>
          </a:xfrm>
          <a:prstGeom prst="roundRect">
            <a:avLst>
              <a:gd name="adj" fmla="val 7369"/>
            </a:avLst>
          </a:prstGeom>
          <a:gradFill rotWithShape="1">
            <a:gsLst>
              <a:gs pos="0">
                <a:srgbClr val="00C9FF">
                  <a:alpha val="12000"/>
                </a:srgbClr>
              </a:gs>
              <a:gs pos="100000">
                <a:srgbClr val="0D1F3A">
                  <a:alpha val="95000"/>
                </a:srgbClr>
              </a:gs>
            </a:gsLst>
            <a:lin ang="2700000" scaled="1"/>
          </a:gradFill>
          <a:ln w="9525">
            <a:solidFill>
              <a:srgbClr val="00C9FF">
                <a:alpha val="7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8062317" y="2792313"/>
            <a:ext cx="409265" cy="134392"/>
          </a:xfrm>
          <a:prstGeom prst="roundRect">
            <a:avLst>
              <a:gd name="adj" fmla="val 106785"/>
            </a:avLst>
          </a:prstGeom>
          <a:solidFill>
            <a:srgbClr val="00C9FF"/>
          </a:solidFill>
          <a:ln/>
        </p:spPr>
        <p:txBody>
          <a:bodyPr wrap="none" lIns="64770" tIns="13970" rIns="64770" bIns="1397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NOW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6953399" y="2971354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C9FF">
              <a:alpha val="20000"/>
            </a:srgbClr>
          </a:solidFill>
          <a:ln/>
          <a:effectLst>
            <a:outerShdw blurRad="86360" dist="50800" dir="16200000" algn="bl" rotWithShape="0">
              <a:srgbClr val="00C9FF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3617" y="3051572"/>
            <a:ext cx="139005" cy="13900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53399" y="3328095"/>
            <a:ext cx="16135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NOW</a:t>
            </a:r>
            <a:endParaRPr lang="en-US" sz="620" dirty="0"/>
          </a:p>
        </p:txBody>
      </p:sp>
      <p:sp>
        <p:nvSpPr>
          <p:cNvPr id="35" name="Text 26"/>
          <p:cNvSpPr/>
          <p:nvPr/>
        </p:nvSpPr>
        <p:spPr>
          <a:xfrm>
            <a:off x="6953399" y="3475286"/>
            <a:ext cx="161353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 Era</a:t>
            </a:r>
            <a:endParaRPr lang="en-US" sz="960" dirty="0"/>
          </a:p>
        </p:txBody>
      </p:sp>
      <p:sp>
        <p:nvSpPr>
          <p:cNvPr id="36" name="Text 27"/>
          <p:cNvSpPr/>
          <p:nvPr/>
        </p:nvSpPr>
        <p:spPr>
          <a:xfrm>
            <a:off x="6953399" y="3664595"/>
            <a:ext cx="1496187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C8EB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intelligent workflows, real-time AI decisions, self-adapting systems</a:t>
            </a:r>
            <a:endParaRPr lang="en-US" sz="680" dirty="0"/>
          </a:p>
        </p:txBody>
      </p:sp>
      <p:sp>
        <p:nvSpPr>
          <p:cNvPr id="37" name="Text 28"/>
          <p:cNvSpPr/>
          <p:nvPr/>
        </p:nvSpPr>
        <p:spPr>
          <a:xfrm>
            <a:off x="1321296" y="3188791"/>
            <a:ext cx="128141" cy="128141"/>
          </a:xfrm>
          <a:prstGeom prst="ellipse">
            <a:avLst/>
          </a:prstGeom>
          <a:solidFill>
            <a:srgbClr val="0D1F3A"/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3397895" y="2455515"/>
            <a:ext cx="128141" cy="128141"/>
          </a:xfrm>
          <a:prstGeom prst="ellipse">
            <a:avLst/>
          </a:prstGeom>
          <a:solidFill>
            <a:srgbClr val="0D1F3A"/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5474345" y="3124051"/>
            <a:ext cx="128141" cy="128141"/>
          </a:xfrm>
          <a:prstGeom prst="ellipse">
            <a:avLst/>
          </a:prstGeom>
          <a:solidFill>
            <a:srgbClr val="0D1F3A"/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7586514" y="2389287"/>
            <a:ext cx="200620" cy="200620"/>
          </a:xfrm>
          <a:prstGeom prst="ellipse">
            <a:avLst/>
          </a:prstGeom>
          <a:solidFill>
            <a:srgbClr val="00C9FF"/>
          </a:solidFill>
          <a:ln w="19050">
            <a:solidFill>
              <a:srgbClr val="FFFFFF"/>
            </a:solidFill>
          </a:ln>
          <a:effectLst>
            <a:outerShdw blurRad="86360" dist="50800" dir="16200000" algn="bl" rotWithShape="0">
              <a:srgbClr val="00C9FF">
                <a:alpha val="9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57200" y="379363"/>
            <a:ext cx="29170" cy="257770"/>
          </a:xfrm>
          <a:prstGeom prst="roundRect">
            <a:avLst>
              <a:gd name="adj" fmla="val 47892"/>
            </a:avLst>
          </a:prstGeom>
          <a:solidFill>
            <a:srgbClr val="00C9FF"/>
          </a:solidFill>
          <a:ln/>
          <a:effectLst>
            <a:outerShdw blurRad="7112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572691" y="314920"/>
            <a:ext cx="4129251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Software Evolution Journey</a:t>
            </a:r>
            <a:endParaRPr lang="en-US" sz="2030" dirty="0"/>
          </a:p>
        </p:txBody>
      </p:sp>
      <p:sp>
        <p:nvSpPr>
          <p:cNvPr id="43" name="Text 34"/>
          <p:cNvSpPr/>
          <p:nvPr/>
        </p:nvSpPr>
        <p:spPr>
          <a:xfrm>
            <a:off x="571500" y="744736"/>
            <a:ext cx="892683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i="1" kern="0" spc="1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Monoliths to Intelligence</a:t>
            </a:r>
            <a:endParaRPr lang="en-US" sz="960" dirty="0"/>
          </a:p>
        </p:txBody>
      </p:sp>
      <p:sp>
        <p:nvSpPr>
          <p:cNvPr id="44" name="Text 35"/>
          <p:cNvSpPr/>
          <p:nvPr/>
        </p:nvSpPr>
        <p:spPr>
          <a:xfrm>
            <a:off x="457200" y="4666208"/>
            <a:ext cx="8229600" cy="9525"/>
          </a:xfrm>
          <a:prstGeom prst="rect">
            <a:avLst/>
          </a:prstGeom>
          <a:solidFill>
            <a:srgbClr val="00C9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57200" y="4780657"/>
            <a:ext cx="70991" cy="70991"/>
          </a:xfrm>
          <a:prstGeom prst="ellipse">
            <a:avLst/>
          </a:prstGeom>
          <a:solidFill>
            <a:srgbClr val="0078C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571351" y="4809232"/>
            <a:ext cx="3149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78C8">
                  <a:alpha val="50000"/>
                </a:srgbClr>
              </a:gs>
              <a:gs pos="100000">
                <a:srgbClr val="00C9FF">
                  <a:alpha val="8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929432" y="4780657"/>
            <a:ext cx="70991" cy="70991"/>
          </a:xfrm>
          <a:prstGeom prst="ellipse">
            <a:avLst/>
          </a:prstGeom>
          <a:solidFill>
            <a:srgbClr val="00A0DC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1043583" y="4809232"/>
            <a:ext cx="3149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A0DC">
                  <a:alpha val="60000"/>
                </a:srgbClr>
              </a:gs>
              <a:gs pos="100000">
                <a:srgbClr val="00C9FF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1401663" y="4780657"/>
            <a:ext cx="70991" cy="70991"/>
          </a:xfrm>
          <a:prstGeom prst="ellipse">
            <a:avLst/>
          </a:prstGeom>
          <a:solidFill>
            <a:srgbClr val="00B9F0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1515814" y="4809232"/>
            <a:ext cx="3149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B9F0">
                  <a:alpha val="80000"/>
                </a:srgbClr>
              </a:gs>
              <a:gs pos="100000">
                <a:srgbClr val="00C9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1873895" y="4766072"/>
            <a:ext cx="100310" cy="10031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2102346" y="4746724"/>
            <a:ext cx="15821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years of architectural evolution</a:t>
            </a:r>
            <a:endParaRPr lang="en-US" sz="73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1447" y="4749859"/>
            <a:ext cx="132588" cy="132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384852" y="4746724"/>
            <a:ext cx="14321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toward intelligence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64B4">
                  <a:alpha val="5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99530" cy="999530"/>
          </a:xfrm>
          <a:prstGeom prst="ellipse">
            <a:avLst/>
          </a:prstGeom>
          <a:noFill/>
          <a:ln w="9525">
            <a:solidFill>
              <a:srgbClr val="00C9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428750" cy="1428750"/>
          </a:xfrm>
          <a:prstGeom prst="ellipse">
            <a:avLst/>
          </a:prstGeom>
          <a:noFill/>
          <a:ln w="9525">
            <a:solidFill>
              <a:srgbClr val="00C9FF">
                <a:alpha val="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08838" y="628650"/>
            <a:ext cx="35421" cy="3542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  <a:effectLst>
            <a:outerShdw blurRad="11430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64920" y="4572000"/>
            <a:ext cx="21580" cy="21580"/>
          </a:xfrm>
          <a:prstGeom prst="ellipse">
            <a:avLst/>
          </a:prstGeom>
          <a:solidFill>
            <a:srgbClr val="00C9FF">
              <a:alpha val="35000"/>
            </a:srgbClr>
          </a:solidFill>
          <a:ln/>
          <a:effectLst>
            <a:outerShdw blurRad="11430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71930" y="2571750"/>
            <a:ext cx="29170" cy="29170"/>
          </a:xfrm>
          <a:prstGeom prst="ellipse">
            <a:avLst/>
          </a:prstGeom>
          <a:solidFill>
            <a:srgbClr val="00C9FF">
              <a:alpha val="40000"/>
            </a:srgbClr>
          </a:solidFill>
          <a:ln/>
          <a:effectLst>
            <a:outerShdw blurRad="11430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0" y="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00C9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750" y="3572470"/>
            <a:ext cx="2286000" cy="1571030"/>
          </a:xfrm>
          <a:prstGeom prst="ellipse">
            <a:avLst/>
          </a:prstGeom>
          <a:gradFill rotWithShape="1">
            <a:gsLst>
              <a:gs pos="0">
                <a:srgbClr val="0064C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6725" y="1482923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725" y="1482923"/>
            <a:ext cx="2647950" cy="1489920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48025" y="1482923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48025" y="1482923"/>
            <a:ext cx="2647950" cy="1489920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29325" y="1482923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29325" y="1482923"/>
            <a:ext cx="2647950" cy="1489920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6725" y="3106192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6725" y="3106192"/>
            <a:ext cx="2647950" cy="1490072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48025" y="3106192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48025" y="3106192"/>
            <a:ext cx="2647950" cy="1490072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29325" y="3106192"/>
            <a:ext cx="2647950" cy="13841"/>
          </a:xfrm>
          <a:custGeom>
            <a:avLst/>
            <a:gdLst/>
            <a:ahLst/>
            <a:cxnLst/>
            <a:rect l="l" t="t" r="r" b="b"/>
            <a:pathLst>
              <a:path w="2647950" h="13841">
                <a:moveTo>
                  <a:pt x="86360" y="0"/>
                </a:moveTo>
                <a:lnTo>
                  <a:pt x="2561590" y="0"/>
                </a:lnTo>
                <a:lnTo>
                  <a:pt x="2578790" y="1730"/>
                </a:lnTo>
                <a:lnTo>
                  <a:pt x="2585791" y="3460"/>
                </a:lnTo>
                <a:lnTo>
                  <a:pt x="2591078" y="5190"/>
                </a:lnTo>
                <a:lnTo>
                  <a:pt x="2595463" y="6920"/>
                </a:lnTo>
                <a:lnTo>
                  <a:pt x="2599264" y="8651"/>
                </a:lnTo>
                <a:lnTo>
                  <a:pt x="2602641" y="10381"/>
                </a:lnTo>
                <a:lnTo>
                  <a:pt x="2605693" y="12111"/>
                </a:lnTo>
                <a:lnTo>
                  <a:pt x="260848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29325" y="3106192"/>
            <a:ext cx="2647950" cy="1490072"/>
          </a:xfrm>
          <a:prstGeom prst="roundRect">
            <a:avLst>
              <a:gd name="adj" fmla="val 5796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314920"/>
            <a:ext cx="1120676" cy="195411"/>
          </a:xfrm>
          <a:prstGeom prst="roundRect">
            <a:avLst>
              <a:gd name="adj" fmla="val 73440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7035" y="390971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9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9606" y="353616"/>
            <a:ext cx="8892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CONCEPTS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457200" y="610642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450"/>
              </a:spcAft>
              <a:buNone/>
            </a:pPr>
            <a:r>
              <a:rPr lang="en-US" sz="2360" kern="0" spc="-24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</a:t>
            </a:r>
            <a:r>
              <a:rPr lang="en-US" sz="2360" b="1" kern="0" spc="-24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</a:t>
            </a:r>
            <a:r>
              <a:rPr lang="en-US" sz="2360" kern="0" spc="-24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System?</a:t>
            </a:r>
            <a:endParaRPr lang="en-US" sz="2360" dirty="0"/>
          </a:p>
        </p:txBody>
      </p:sp>
      <p:sp>
        <p:nvSpPr>
          <p:cNvPr id="28" name="Text 26"/>
          <p:cNvSpPr/>
          <p:nvPr/>
        </p:nvSpPr>
        <p:spPr>
          <a:xfrm>
            <a:off x="457200" y="997446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0" scaled="1"/>
          </a:gradFill>
          <a:ln/>
          <a:effectLst>
            <a:outerShdw blurRad="7112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1090017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560"/>
              </a:spcBef>
              <a:buNone/>
            </a:pPr>
            <a:r>
              <a:rPr lang="en-US" sz="960" i="1" dirty="0">
                <a:solidFill>
                  <a:srgbClr val="00C9FF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AI as a feature — AI as the foundation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57200" y="1473398"/>
            <a:ext cx="2667000" cy="1508968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6725" y="1597223"/>
            <a:ext cx="21580" cy="1261318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24495" y="164038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02" y="1716890"/>
            <a:ext cx="132588" cy="1325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24495" y="2012454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AI-First Design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24495" y="2227064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architected from day one with AI at the core, not bolted on as an afterthought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3238500" y="1473398"/>
            <a:ext cx="2667000" cy="1508968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248025" y="1597223"/>
            <a:ext cx="21580" cy="1261318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505795" y="164038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2302" y="1716890"/>
            <a:ext cx="132588" cy="1325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05795" y="2012454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Context-Aware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3505795" y="2227064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business context, user intent, and environmental signals in real time</a:t>
            </a:r>
            <a:endParaRPr lang="en-US" sz="760" dirty="0"/>
          </a:p>
        </p:txBody>
      </p:sp>
      <p:sp>
        <p:nvSpPr>
          <p:cNvPr id="42" name="Text 38"/>
          <p:cNvSpPr/>
          <p:nvPr/>
        </p:nvSpPr>
        <p:spPr>
          <a:xfrm>
            <a:off x="6019800" y="1473398"/>
            <a:ext cx="2667000" cy="1508968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029325" y="1597223"/>
            <a:ext cx="21580" cy="1261318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287095" y="164038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602" y="1716890"/>
            <a:ext cx="132588" cy="13258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287095" y="2012454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Self-Optimizing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287095" y="2227064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learns and improves from operational data without manual retraining cycles</a:t>
            </a:r>
            <a:endParaRPr lang="en-US" sz="760" dirty="0"/>
          </a:p>
        </p:txBody>
      </p:sp>
      <p:sp>
        <p:nvSpPr>
          <p:cNvPr id="48" name="Text 43"/>
          <p:cNvSpPr/>
          <p:nvPr/>
        </p:nvSpPr>
        <p:spPr>
          <a:xfrm>
            <a:off x="457200" y="3096667"/>
            <a:ext cx="2667000" cy="1509117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466725" y="3220492"/>
            <a:ext cx="21580" cy="1261467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724495" y="326365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02" y="3340159"/>
            <a:ext cx="132588" cy="132588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724495" y="3635722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Decision-Intelligent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724495" y="3850332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complex decisions with explainable reasoning and traceable audit trails</a:t>
            </a:r>
            <a:endParaRPr lang="en-US" sz="760" dirty="0"/>
          </a:p>
        </p:txBody>
      </p:sp>
      <p:sp>
        <p:nvSpPr>
          <p:cNvPr id="54" name="Text 48"/>
          <p:cNvSpPr/>
          <p:nvPr/>
        </p:nvSpPr>
        <p:spPr>
          <a:xfrm>
            <a:off x="3238500" y="3096667"/>
            <a:ext cx="2667000" cy="1509117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3248025" y="3220492"/>
            <a:ext cx="21580" cy="1261467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3505795" y="326365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2302" y="3340159"/>
            <a:ext cx="132588" cy="132588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3505795" y="3635722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Adaptive UX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3505795" y="3850332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 that personalize and evolve in real time based on behavior, role, and context</a:t>
            </a:r>
            <a:endParaRPr lang="en-US" sz="760" dirty="0"/>
          </a:p>
        </p:txBody>
      </p:sp>
      <p:sp>
        <p:nvSpPr>
          <p:cNvPr id="60" name="Text 53"/>
          <p:cNvSpPr/>
          <p:nvPr/>
        </p:nvSpPr>
        <p:spPr>
          <a:xfrm>
            <a:off x="6019800" y="3096667"/>
            <a:ext cx="2667000" cy="1509117"/>
          </a:xfrm>
          <a:prstGeom prst="roundRect">
            <a:avLst>
              <a:gd name="adj" fmla="val 5723"/>
            </a:avLst>
          </a:prstGeom>
          <a:solidFill>
            <a:srgbClr val="0D1F3A"/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6029325" y="3220492"/>
            <a:ext cx="21580" cy="1261467"/>
          </a:xfrm>
          <a:prstGeom prst="rect">
            <a:avLst/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57150" dist="50800" dir="16200000" algn="bl" rotWithShape="0">
              <a:srgbClr val="00C9FF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6287095" y="326365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3602" y="3340159"/>
            <a:ext cx="132588" cy="132588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287095" y="3635722"/>
            <a:ext cx="24406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&amp; Trustworthy</a:t>
            </a:r>
            <a:endParaRPr lang="en-US" sz="900" dirty="0"/>
          </a:p>
        </p:txBody>
      </p:sp>
      <p:sp>
        <p:nvSpPr>
          <p:cNvPr id="65" name="Text 57"/>
          <p:cNvSpPr/>
          <p:nvPr/>
        </p:nvSpPr>
        <p:spPr>
          <a:xfrm>
            <a:off x="6287095" y="3850332"/>
            <a:ext cx="2263104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fairness, accountability, and auditability across every layer of the system</a:t>
            </a:r>
            <a:endParaRPr lang="en-US" sz="760" dirty="0"/>
          </a:p>
        </p:txBody>
      </p:sp>
      <p:sp>
        <p:nvSpPr>
          <p:cNvPr id="66" name="Text 58"/>
          <p:cNvSpPr/>
          <p:nvPr/>
        </p:nvSpPr>
        <p:spPr>
          <a:xfrm>
            <a:off x="457200" y="4791968"/>
            <a:ext cx="3499098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C9FF">
                  <a:alpha val="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4042618" y="4733925"/>
            <a:ext cx="116447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ICIVC 2026 · KEYNOTE</a:t>
            </a:r>
            <a:endParaRPr lang="en-US" sz="650" dirty="0"/>
          </a:p>
        </p:txBody>
      </p:sp>
      <p:sp>
        <p:nvSpPr>
          <p:cNvPr id="68" name="Text 60"/>
          <p:cNvSpPr/>
          <p:nvPr/>
        </p:nvSpPr>
        <p:spPr>
          <a:xfrm>
            <a:off x="5187553" y="4791968"/>
            <a:ext cx="3499247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5000"/>
                </a:srgbClr>
              </a:gs>
              <a:gs pos="100000">
                <a:srgbClr val="00C9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71280" cy="271403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0"/>
            <a:ext cx="4000500" cy="292849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2429470"/>
            <a:ext cx="6000750" cy="27140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2900" y="4685109"/>
            <a:ext cx="8458200" cy="314920"/>
          </a:xfrm>
          <a:prstGeom prst="roundRect">
            <a:avLst>
              <a:gd name="adj" fmla="val 18147"/>
            </a:avLst>
          </a:prstGeom>
          <a:gradFill rotWithShape="1">
            <a:gsLst>
              <a:gs pos="0">
                <a:srgbClr val="00C9FF">
                  <a:alpha val="6000"/>
                </a:srgbClr>
              </a:gs>
              <a:gs pos="50000">
                <a:srgbClr val="00C9FF">
                  <a:alpha val="12000"/>
                </a:srgbClr>
              </a:gs>
              <a:gs pos="100000">
                <a:srgbClr val="00C9FF">
                  <a:alpha val="6000"/>
                </a:srgbClr>
              </a:gs>
            </a:gsLst>
            <a:lin ang="0" scaled="1"/>
          </a:gra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1197918" y="4813846"/>
            <a:ext cx="57150" cy="57150"/>
          </a:xfrm>
          <a:prstGeom prst="ellipse">
            <a:avLst/>
          </a:prstGeom>
          <a:solidFill>
            <a:srgbClr val="DD3333"/>
          </a:solidFill>
          <a:ln/>
          <a:effectLst>
            <a:outerShdw blurRad="57150" dist="50800" dir="16200000" algn="bl" rotWithShape="0">
              <a:srgbClr val="DD333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312218" y="4783485"/>
            <a:ext cx="4808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DD333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620" dirty="0"/>
          </a:p>
        </p:txBody>
      </p:sp>
      <p:sp>
        <p:nvSpPr>
          <p:cNvPr id="10" name="Text 5"/>
          <p:cNvSpPr/>
          <p:nvPr/>
        </p:nvSpPr>
        <p:spPr>
          <a:xfrm>
            <a:off x="1863626" y="4838700"/>
            <a:ext cx="814388" cy="7590"/>
          </a:xfrm>
          <a:prstGeom prst="rect">
            <a:avLst/>
          </a:prstGeom>
          <a:gradFill rotWithShape="1">
            <a:gsLst>
              <a:gs pos="0">
                <a:srgbClr val="DD3333">
                  <a:alpha val="50000"/>
                </a:srgbClr>
              </a:gs>
              <a:gs pos="100000">
                <a:srgbClr val="00C9F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3151" y="4776276"/>
            <a:ext cx="132588" cy="132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91892" y="4767263"/>
            <a:ext cx="32756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1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UNIFIED PLATFORM FOR AI-NATIVE ENTERPRISE</a:t>
            </a:r>
            <a:endParaRPr lang="en-US" sz="79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1744" y="4776127"/>
            <a:ext cx="132588" cy="1325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7353" y="4776127"/>
            <a:ext cx="132588" cy="132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40810" y="4838700"/>
            <a:ext cx="814388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6DB33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35" y="4776276"/>
            <a:ext cx="132588" cy="132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212360" y="4783485"/>
            <a:ext cx="6813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B33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620" dirty="0"/>
          </a:p>
        </p:txBody>
      </p:sp>
      <p:sp>
        <p:nvSpPr>
          <p:cNvPr id="18" name="Text 9"/>
          <p:cNvSpPr/>
          <p:nvPr/>
        </p:nvSpPr>
        <p:spPr>
          <a:xfrm>
            <a:off x="7888932" y="4813846"/>
            <a:ext cx="57150" cy="57150"/>
          </a:xfrm>
          <a:prstGeom prst="ellipse">
            <a:avLst/>
          </a:prstGeom>
          <a:solidFill>
            <a:srgbClr val="6DB33F"/>
          </a:solidFill>
          <a:ln/>
          <a:effectLst>
            <a:outerShdw blurRad="57150" dist="50800" dir="16200000" algn="bl" rotWithShape="0">
              <a:srgbClr val="6DB33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0"/>
          <p:cNvSpPr/>
          <p:nvPr/>
        </p:nvSpPr>
        <p:spPr>
          <a:xfrm>
            <a:off x="3147417" y="1107728"/>
            <a:ext cx="7590" cy="350758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30000"/>
                </a:srgbClr>
              </a:gs>
              <a:gs pos="50000">
                <a:srgbClr val="00C9FF">
                  <a:alpha val="60000"/>
                </a:srgbClr>
              </a:gs>
              <a:gs pos="8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1"/>
          <p:cNvSpPr/>
          <p:nvPr/>
        </p:nvSpPr>
        <p:spPr>
          <a:xfrm>
            <a:off x="3125827" y="2836813"/>
            <a:ext cx="49411" cy="49411"/>
          </a:xfrm>
          <a:prstGeom prst="ellipse">
            <a:avLst/>
          </a:prstGeom>
          <a:solidFill>
            <a:srgbClr val="00C9FF"/>
          </a:solidFill>
          <a:ln/>
          <a:effectLst>
            <a:outerShdw blurRad="7112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5988844" y="1107728"/>
            <a:ext cx="7590" cy="350758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30000"/>
                </a:srgbClr>
              </a:gs>
              <a:gs pos="50000">
                <a:srgbClr val="00C9FF">
                  <a:alpha val="60000"/>
                </a:srgbClr>
              </a:gs>
              <a:gs pos="8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3"/>
          <p:cNvSpPr/>
          <p:nvPr/>
        </p:nvSpPr>
        <p:spPr>
          <a:xfrm>
            <a:off x="5967254" y="2836813"/>
            <a:ext cx="49411" cy="49411"/>
          </a:xfrm>
          <a:prstGeom prst="ellipse">
            <a:avLst/>
          </a:prstGeom>
          <a:solidFill>
            <a:srgbClr val="00C9FF"/>
          </a:solidFill>
          <a:ln/>
          <a:effectLst>
            <a:outerShdw blurRad="7112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342900" y="248841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801291" y="200620"/>
            <a:ext cx="19294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TECH ARCHITECTURE</a:t>
            </a:r>
            <a:endParaRPr lang="en-US" sz="620" dirty="0"/>
          </a:p>
        </p:txBody>
      </p:sp>
      <p:sp>
        <p:nvSpPr>
          <p:cNvPr id="25" name="Text 16"/>
          <p:cNvSpPr/>
          <p:nvPr/>
        </p:nvSpPr>
        <p:spPr>
          <a:xfrm>
            <a:off x="342900" y="361801"/>
            <a:ext cx="905027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45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250" b="1" kern="0" spc="4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</a:t>
            </a:r>
            <a:r>
              <a:rPr lang="en-US" sz="2250" kern="0" spc="45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Tech Triad</a:t>
            </a:r>
            <a:endParaRPr lang="en-US" sz="2250" dirty="0"/>
          </a:p>
        </p:txBody>
      </p:sp>
      <p:sp>
        <p:nvSpPr>
          <p:cNvPr id="26" name="Text 17"/>
          <p:cNvSpPr/>
          <p:nvPr/>
        </p:nvSpPr>
        <p:spPr>
          <a:xfrm>
            <a:off x="342900" y="819596"/>
            <a:ext cx="93040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30"/>
              </a:spcBef>
              <a:buNone/>
            </a:pPr>
            <a:r>
              <a:rPr lang="en-US" sz="84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pillars. One intelligent enterprise platform.</a:t>
            </a:r>
            <a:endParaRPr lang="en-US" sz="840" dirty="0"/>
          </a:p>
        </p:txBody>
      </p:sp>
      <p:sp>
        <p:nvSpPr>
          <p:cNvPr id="27" name="Text 18"/>
          <p:cNvSpPr/>
          <p:nvPr/>
        </p:nvSpPr>
        <p:spPr>
          <a:xfrm>
            <a:off x="314920" y="1107728"/>
            <a:ext cx="2775347" cy="3507581"/>
          </a:xfrm>
          <a:prstGeom prst="roundRect">
            <a:avLst>
              <a:gd name="adj" fmla="val 4118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342900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3438962"/>
                </a:lnTo>
                <a:lnTo>
                  <a:pt x="8334" y="3436127"/>
                </a:lnTo>
                <a:lnTo>
                  <a:pt x="7144" y="3433056"/>
                </a:lnTo>
                <a:lnTo>
                  <a:pt x="5953" y="3429688"/>
                </a:lnTo>
                <a:lnTo>
                  <a:pt x="4763" y="3425931"/>
                </a:lnTo>
                <a:lnTo>
                  <a:pt x="3572" y="3421632"/>
                </a:lnTo>
                <a:lnTo>
                  <a:pt x="2381" y="3416491"/>
                </a:lnTo>
                <a:lnTo>
                  <a:pt x="1191" y="3409736"/>
                </a:lnTo>
                <a:lnTo>
                  <a:pt x="0" y="339328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3108722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3393281"/>
                </a:lnTo>
                <a:lnTo>
                  <a:pt x="8334" y="3409736"/>
                </a:lnTo>
                <a:lnTo>
                  <a:pt x="7144" y="3416491"/>
                </a:lnTo>
                <a:lnTo>
                  <a:pt x="5953" y="3421632"/>
                </a:lnTo>
                <a:lnTo>
                  <a:pt x="4763" y="3425931"/>
                </a:lnTo>
                <a:lnTo>
                  <a:pt x="3572" y="3429688"/>
                </a:lnTo>
                <a:lnTo>
                  <a:pt x="2381" y="3433056"/>
                </a:lnTo>
                <a:lnTo>
                  <a:pt x="1191" y="3436127"/>
                </a:lnTo>
                <a:lnTo>
                  <a:pt x="0" y="3438962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342900" y="1107728"/>
            <a:ext cx="2775347" cy="19050"/>
          </a:xfrm>
          <a:custGeom>
            <a:avLst/>
            <a:gdLst/>
            <a:ahLst/>
            <a:cxnLst/>
            <a:rect l="l" t="t" r="r" b="b"/>
            <a:pathLst>
              <a:path w="2775347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724229" y="19050"/>
                </a:lnTo>
                <a:lnTo>
                  <a:pt x="2720483" y="16669"/>
                </a:lnTo>
                <a:lnTo>
                  <a:pt x="2716382" y="14288"/>
                </a:lnTo>
                <a:lnTo>
                  <a:pt x="2711841" y="11906"/>
                </a:lnTo>
                <a:lnTo>
                  <a:pt x="2706727" y="9525"/>
                </a:lnTo>
                <a:lnTo>
                  <a:pt x="2700822" y="7144"/>
                </a:lnTo>
                <a:lnTo>
                  <a:pt x="2693697" y="4763"/>
                </a:lnTo>
                <a:lnTo>
                  <a:pt x="2684256" y="2381"/>
                </a:lnTo>
                <a:lnTo>
                  <a:pt x="2661047" y="0"/>
                </a:lnTo>
                <a:close/>
              </a:path>
            </a:pathLst>
          </a:custGeom>
          <a:solidFill>
            <a:srgbClr val="DD33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1721053" y="1107728"/>
            <a:ext cx="1397194" cy="356870"/>
          </a:xfrm>
          <a:custGeom>
            <a:avLst/>
            <a:gdLst/>
            <a:ahLst/>
            <a:cxnLst/>
            <a:rect l="l" t="t" r="r" b="b"/>
            <a:pathLst>
              <a:path w="1397194" h="356870">
                <a:moveTo>
                  <a:pt x="0" y="0"/>
                </a:moveTo>
                <a:lnTo>
                  <a:pt x="0" y="356870"/>
                </a:lnTo>
                <a:lnTo>
                  <a:pt x="1397194" y="356870"/>
                </a:lnTo>
                <a:lnTo>
                  <a:pt x="1397194" y="114300"/>
                </a:lnTo>
                <a:lnTo>
                  <a:pt x="1394997" y="92001"/>
                </a:lnTo>
                <a:lnTo>
                  <a:pt x="1388493" y="70559"/>
                </a:lnTo>
                <a:lnTo>
                  <a:pt x="1377931" y="50798"/>
                </a:lnTo>
                <a:lnTo>
                  <a:pt x="1363716" y="33478"/>
                </a:lnTo>
                <a:lnTo>
                  <a:pt x="1346395" y="19263"/>
                </a:lnTo>
                <a:lnTo>
                  <a:pt x="1326634" y="8701"/>
                </a:lnTo>
                <a:lnTo>
                  <a:pt x="1305192" y="2196"/>
                </a:lnTo>
                <a:lnTo>
                  <a:pt x="1282894" y="0"/>
                </a:lnTo>
                <a:close/>
              </a:path>
            </a:pathLst>
          </a:custGeom>
          <a:gradFill rotWithShape="1">
            <a:gsLst>
              <a:gs pos="0">
                <a:srgbClr val="DD3333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1501973" y="1298228"/>
            <a:ext cx="457200" cy="457200"/>
          </a:xfrm>
          <a:prstGeom prst="ellipse">
            <a:avLst/>
          </a:prstGeom>
          <a:solidFill>
            <a:srgbClr val="DD3333">
              <a:alpha val="15000"/>
            </a:srgbClr>
          </a:solidFill>
          <a:ln/>
          <a:effectLst>
            <a:outerShdw blurRad="128270" dist="50800" dir="16200000" algn="bl" rotWithShape="0">
              <a:srgbClr val="DD3333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3835" y="1430089"/>
            <a:ext cx="193328" cy="19332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93168" y="1826419"/>
            <a:ext cx="96229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DD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ANGULAR</a:t>
            </a:r>
            <a:endParaRPr lang="en-US" sz="1240" dirty="0"/>
          </a:p>
        </p:txBody>
      </p:sp>
      <p:sp>
        <p:nvSpPr>
          <p:cNvPr id="35" name="Text 25"/>
          <p:cNvSpPr/>
          <p:nvPr/>
        </p:nvSpPr>
        <p:spPr>
          <a:xfrm>
            <a:off x="1054447" y="2076450"/>
            <a:ext cx="148747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DD3333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INTELLIGENCE</a:t>
            </a:r>
            <a:endParaRPr lang="en-US" sz="680" dirty="0"/>
          </a:p>
        </p:txBody>
      </p:sp>
      <p:sp>
        <p:nvSpPr>
          <p:cNvPr id="36" name="Text 26"/>
          <p:cNvSpPr/>
          <p:nvPr/>
        </p:nvSpPr>
        <p:spPr>
          <a:xfrm>
            <a:off x="495895" y="2306241"/>
            <a:ext cx="246935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DD333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495895" y="2414141"/>
            <a:ext cx="2469356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AI-augmented UI components</a:t>
            </a:r>
            <a:endParaRPr lang="en-US" sz="790" dirty="0"/>
          </a:p>
        </p:txBody>
      </p:sp>
      <p:sp>
        <p:nvSpPr>
          <p:cNvPr id="38" name="Text 28"/>
          <p:cNvSpPr/>
          <p:nvPr/>
        </p:nvSpPr>
        <p:spPr>
          <a:xfrm>
            <a:off x="495895" y="2635448"/>
            <a:ext cx="246935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495895" y="2485888"/>
            <a:ext cx="43160" cy="43160"/>
          </a:xfrm>
          <a:prstGeom prst="ellipse">
            <a:avLst/>
          </a:prstGeom>
          <a:solidFill>
            <a:srgbClr val="DD3333"/>
          </a:solidFill>
          <a:ln/>
          <a:effectLst>
            <a:outerShdw blurRad="43180" dist="50800" dir="16200000" algn="bl" rotWithShape="0">
              <a:srgbClr val="DD333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495895" y="2644973"/>
            <a:ext cx="2469356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Real-time streaming responses</a:t>
            </a:r>
            <a:endParaRPr lang="en-US" sz="790" dirty="0"/>
          </a:p>
        </p:txBody>
      </p:sp>
      <p:sp>
        <p:nvSpPr>
          <p:cNvPr id="41" name="Text 31"/>
          <p:cNvSpPr/>
          <p:nvPr/>
        </p:nvSpPr>
        <p:spPr>
          <a:xfrm>
            <a:off x="495895" y="2866281"/>
            <a:ext cx="246935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495895" y="2716721"/>
            <a:ext cx="43160" cy="43160"/>
          </a:xfrm>
          <a:prstGeom prst="ellipse">
            <a:avLst/>
          </a:prstGeom>
          <a:solidFill>
            <a:srgbClr val="DD3333"/>
          </a:solidFill>
          <a:ln/>
          <a:effectLst>
            <a:outerShdw blurRad="43180" dist="50800" dir="16200000" algn="bl" rotWithShape="0">
              <a:srgbClr val="DD333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495895" y="2875806"/>
            <a:ext cx="2469356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Adaptive dashboards</a:t>
            </a:r>
            <a:endParaRPr lang="en-US" sz="790" dirty="0"/>
          </a:p>
        </p:txBody>
      </p:sp>
      <p:sp>
        <p:nvSpPr>
          <p:cNvPr id="44" name="Text 34"/>
          <p:cNvSpPr/>
          <p:nvPr/>
        </p:nvSpPr>
        <p:spPr>
          <a:xfrm>
            <a:off x="495895" y="3097113"/>
            <a:ext cx="246935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495895" y="2964805"/>
            <a:ext cx="43160" cy="43160"/>
          </a:xfrm>
          <a:prstGeom prst="ellipse">
            <a:avLst/>
          </a:prstGeom>
          <a:solidFill>
            <a:srgbClr val="DD3333"/>
          </a:solidFill>
          <a:ln/>
          <a:effectLst>
            <a:outerShdw blurRad="43180" dist="50800" dir="16200000" algn="bl" rotWithShape="0">
              <a:srgbClr val="DD333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6"/>
          <p:cNvSpPr/>
          <p:nvPr/>
        </p:nvSpPr>
        <p:spPr>
          <a:xfrm>
            <a:off x="569974" y="3097113"/>
            <a:ext cx="1360602" cy="114300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+ SSE support</a:t>
            </a:r>
            <a:endParaRPr lang="en-US" sz="790" dirty="0"/>
          </a:p>
        </p:txBody>
      </p:sp>
      <p:sp>
        <p:nvSpPr>
          <p:cNvPr id="47" name="Text 37"/>
          <p:cNvSpPr/>
          <p:nvPr/>
        </p:nvSpPr>
        <p:spPr>
          <a:xfrm>
            <a:off x="495895" y="3195638"/>
            <a:ext cx="43160" cy="43160"/>
          </a:xfrm>
          <a:prstGeom prst="ellipse">
            <a:avLst/>
          </a:prstGeom>
          <a:solidFill>
            <a:srgbClr val="DD3333"/>
          </a:solidFill>
          <a:ln/>
          <a:effectLst>
            <a:outerShdw blurRad="43180" dist="50800" dir="16200000" algn="bl" rotWithShape="0">
              <a:srgbClr val="DD333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1399282" y="4243983"/>
            <a:ext cx="728677" cy="218331"/>
          </a:xfrm>
          <a:prstGeom prst="rect">
            <a:avLst/>
          </a:prstGeom>
          <a:noFill/>
          <a:ln/>
        </p:spPr>
        <p:txBody>
          <a:bodyPr wrap="none" lIns="0" tIns="10033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dirty="0">
                <a:solidFill>
                  <a:srgbClr val="DD3333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&lt;app-ai-shell&gt;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3184178" y="1107728"/>
            <a:ext cx="2775496" cy="3507581"/>
          </a:xfrm>
          <a:prstGeom prst="roundRect">
            <a:avLst>
              <a:gd name="adj" fmla="val 4118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3184178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3438962"/>
                </a:lnTo>
                <a:lnTo>
                  <a:pt x="8334" y="3436127"/>
                </a:lnTo>
                <a:lnTo>
                  <a:pt x="7144" y="3433056"/>
                </a:lnTo>
                <a:lnTo>
                  <a:pt x="5953" y="3429688"/>
                </a:lnTo>
                <a:lnTo>
                  <a:pt x="4763" y="3425931"/>
                </a:lnTo>
                <a:lnTo>
                  <a:pt x="3572" y="3421632"/>
                </a:lnTo>
                <a:lnTo>
                  <a:pt x="2381" y="3416491"/>
                </a:lnTo>
                <a:lnTo>
                  <a:pt x="1191" y="3409736"/>
                </a:lnTo>
                <a:lnTo>
                  <a:pt x="0" y="339328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1"/>
          <p:cNvSpPr/>
          <p:nvPr/>
        </p:nvSpPr>
        <p:spPr>
          <a:xfrm>
            <a:off x="5950148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3393281"/>
                </a:lnTo>
                <a:lnTo>
                  <a:pt x="8334" y="3409736"/>
                </a:lnTo>
                <a:lnTo>
                  <a:pt x="7144" y="3416491"/>
                </a:lnTo>
                <a:lnTo>
                  <a:pt x="5953" y="3421632"/>
                </a:lnTo>
                <a:lnTo>
                  <a:pt x="4763" y="3425931"/>
                </a:lnTo>
                <a:lnTo>
                  <a:pt x="3572" y="3429688"/>
                </a:lnTo>
                <a:lnTo>
                  <a:pt x="2381" y="3433056"/>
                </a:lnTo>
                <a:lnTo>
                  <a:pt x="1191" y="3436127"/>
                </a:lnTo>
                <a:lnTo>
                  <a:pt x="0" y="3438962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3184178" y="1107728"/>
            <a:ext cx="2775496" cy="19050"/>
          </a:xfrm>
          <a:custGeom>
            <a:avLst/>
            <a:gdLst/>
            <a:ahLst/>
            <a:cxnLst/>
            <a:rect l="l" t="t" r="r" b="b"/>
            <a:pathLst>
              <a:path w="2775496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724377" y="19050"/>
                </a:lnTo>
                <a:lnTo>
                  <a:pt x="2720632" y="16669"/>
                </a:lnTo>
                <a:lnTo>
                  <a:pt x="2716531" y="14288"/>
                </a:lnTo>
                <a:lnTo>
                  <a:pt x="2711990" y="11906"/>
                </a:lnTo>
                <a:lnTo>
                  <a:pt x="2706876" y="9525"/>
                </a:lnTo>
                <a:lnTo>
                  <a:pt x="2700970" y="7144"/>
                </a:lnTo>
                <a:lnTo>
                  <a:pt x="2693846" y="4763"/>
                </a:lnTo>
                <a:lnTo>
                  <a:pt x="2684405" y="2381"/>
                </a:lnTo>
                <a:lnTo>
                  <a:pt x="2661196" y="0"/>
                </a:lnTo>
                <a:close/>
              </a:path>
            </a:pathLst>
          </a:custGeom>
          <a:solidFill>
            <a:srgbClr val="6DB33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4562331" y="1107728"/>
            <a:ext cx="1397343" cy="356870"/>
          </a:xfrm>
          <a:custGeom>
            <a:avLst/>
            <a:gdLst/>
            <a:ahLst/>
            <a:cxnLst/>
            <a:rect l="l" t="t" r="r" b="b"/>
            <a:pathLst>
              <a:path w="1397343" h="356870">
                <a:moveTo>
                  <a:pt x="0" y="0"/>
                </a:moveTo>
                <a:lnTo>
                  <a:pt x="0" y="356870"/>
                </a:lnTo>
                <a:lnTo>
                  <a:pt x="1397343" y="356870"/>
                </a:lnTo>
                <a:lnTo>
                  <a:pt x="1397343" y="114300"/>
                </a:lnTo>
                <a:lnTo>
                  <a:pt x="1395146" y="92001"/>
                </a:lnTo>
                <a:lnTo>
                  <a:pt x="1388642" y="70559"/>
                </a:lnTo>
                <a:lnTo>
                  <a:pt x="1378079" y="50798"/>
                </a:lnTo>
                <a:lnTo>
                  <a:pt x="1363865" y="33478"/>
                </a:lnTo>
                <a:lnTo>
                  <a:pt x="1346544" y="19263"/>
                </a:lnTo>
                <a:lnTo>
                  <a:pt x="1326783" y="8701"/>
                </a:lnTo>
                <a:lnTo>
                  <a:pt x="1305341" y="2196"/>
                </a:lnTo>
                <a:lnTo>
                  <a:pt x="1283043" y="0"/>
                </a:lnTo>
                <a:close/>
              </a:path>
            </a:pathLst>
          </a:custGeom>
          <a:gradFill rotWithShape="1">
            <a:gsLst>
              <a:gs pos="0">
                <a:srgbClr val="6DB33F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4343251" y="1298228"/>
            <a:ext cx="457200" cy="457200"/>
          </a:xfrm>
          <a:prstGeom prst="ellipse">
            <a:avLst/>
          </a:prstGeom>
          <a:solidFill>
            <a:srgbClr val="6DB33F">
              <a:alpha val="15000"/>
            </a:srgbClr>
          </a:solidFill>
          <a:ln/>
          <a:effectLst>
            <a:outerShdw blurRad="128270" dist="50800" dir="16200000" algn="bl" rotWithShape="0">
              <a:srgbClr val="6DB33F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5113" y="1430089"/>
            <a:ext cx="193328" cy="19332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3951982" y="1826419"/>
            <a:ext cx="1363876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6DB33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BOOT</a:t>
            </a:r>
            <a:endParaRPr lang="en-US" sz="1240" dirty="0"/>
          </a:p>
        </p:txBody>
      </p:sp>
      <p:sp>
        <p:nvSpPr>
          <p:cNvPr id="57" name="Text 46"/>
          <p:cNvSpPr/>
          <p:nvPr/>
        </p:nvSpPr>
        <p:spPr>
          <a:xfrm>
            <a:off x="3963591" y="2076450"/>
            <a:ext cx="133833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6DB33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BACKEND</a:t>
            </a:r>
            <a:endParaRPr lang="en-US" sz="680" dirty="0"/>
          </a:p>
        </p:txBody>
      </p:sp>
      <p:sp>
        <p:nvSpPr>
          <p:cNvPr id="58" name="Text 47"/>
          <p:cNvSpPr/>
          <p:nvPr/>
        </p:nvSpPr>
        <p:spPr>
          <a:xfrm>
            <a:off x="3337173" y="2306241"/>
            <a:ext cx="2469505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DB33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8"/>
          <p:cNvSpPr/>
          <p:nvPr/>
        </p:nvSpPr>
        <p:spPr>
          <a:xfrm>
            <a:off x="3337173" y="2414141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RESTful + GraphQL APIs</a:t>
            </a:r>
            <a:endParaRPr lang="en-US" sz="790" dirty="0"/>
          </a:p>
        </p:txBody>
      </p:sp>
      <p:sp>
        <p:nvSpPr>
          <p:cNvPr id="60" name="Text 49"/>
          <p:cNvSpPr/>
          <p:nvPr/>
        </p:nvSpPr>
        <p:spPr>
          <a:xfrm>
            <a:off x="3337173" y="2635448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0"/>
          <p:cNvSpPr/>
          <p:nvPr/>
        </p:nvSpPr>
        <p:spPr>
          <a:xfrm>
            <a:off x="3337173" y="2503140"/>
            <a:ext cx="43160" cy="43160"/>
          </a:xfrm>
          <a:prstGeom prst="ellipse">
            <a:avLst/>
          </a:prstGeom>
          <a:solidFill>
            <a:srgbClr val="6DB33F"/>
          </a:solidFill>
          <a:ln/>
          <a:effectLst>
            <a:outerShdw blurRad="43180" dist="50800" dir="16200000" algn="bl" rotWithShape="0">
              <a:srgbClr val="6DB33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1"/>
          <p:cNvSpPr/>
          <p:nvPr/>
        </p:nvSpPr>
        <p:spPr>
          <a:xfrm>
            <a:off x="3337173" y="2644973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LLM orchestration layer</a:t>
            </a:r>
            <a:endParaRPr lang="en-US" sz="790" dirty="0"/>
          </a:p>
        </p:txBody>
      </p:sp>
      <p:sp>
        <p:nvSpPr>
          <p:cNvPr id="63" name="Text 52"/>
          <p:cNvSpPr/>
          <p:nvPr/>
        </p:nvSpPr>
        <p:spPr>
          <a:xfrm>
            <a:off x="3337173" y="2866281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3"/>
          <p:cNvSpPr/>
          <p:nvPr/>
        </p:nvSpPr>
        <p:spPr>
          <a:xfrm>
            <a:off x="3337173" y="2733973"/>
            <a:ext cx="43160" cy="43160"/>
          </a:xfrm>
          <a:prstGeom prst="ellipse">
            <a:avLst/>
          </a:prstGeom>
          <a:solidFill>
            <a:srgbClr val="6DB33F"/>
          </a:solidFill>
          <a:ln/>
          <a:effectLst>
            <a:outerShdw blurRad="43180" dist="50800" dir="16200000" algn="bl" rotWithShape="0">
              <a:srgbClr val="6DB33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4"/>
          <p:cNvSpPr/>
          <p:nvPr/>
        </p:nvSpPr>
        <p:spPr>
          <a:xfrm>
            <a:off x="3337173" y="2875806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model gateway</a:t>
            </a:r>
            <a:endParaRPr lang="en-US" sz="790" dirty="0"/>
          </a:p>
        </p:txBody>
      </p:sp>
      <p:sp>
        <p:nvSpPr>
          <p:cNvPr id="66" name="Text 55"/>
          <p:cNvSpPr/>
          <p:nvPr/>
        </p:nvSpPr>
        <p:spPr>
          <a:xfrm>
            <a:off x="3337173" y="3097113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6"/>
          <p:cNvSpPr/>
          <p:nvPr/>
        </p:nvSpPr>
        <p:spPr>
          <a:xfrm>
            <a:off x="3337173" y="2964805"/>
            <a:ext cx="43160" cy="43160"/>
          </a:xfrm>
          <a:prstGeom prst="ellipse">
            <a:avLst/>
          </a:prstGeom>
          <a:solidFill>
            <a:srgbClr val="6DB33F"/>
          </a:solidFill>
          <a:ln/>
          <a:effectLst>
            <a:outerShdw blurRad="43180" dist="50800" dir="16200000" algn="bl" rotWithShape="0">
              <a:srgbClr val="6DB33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7"/>
          <p:cNvSpPr/>
          <p:nvPr/>
        </p:nvSpPr>
        <p:spPr>
          <a:xfrm>
            <a:off x="3409503" y="3117475"/>
            <a:ext cx="1322621" cy="114300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microservices</a:t>
            </a:r>
            <a:endParaRPr lang="en-US" sz="790" dirty="0"/>
          </a:p>
        </p:txBody>
      </p:sp>
      <p:sp>
        <p:nvSpPr>
          <p:cNvPr id="69" name="Text 58"/>
          <p:cNvSpPr/>
          <p:nvPr/>
        </p:nvSpPr>
        <p:spPr>
          <a:xfrm>
            <a:off x="3337173" y="3195638"/>
            <a:ext cx="43160" cy="43160"/>
          </a:xfrm>
          <a:prstGeom prst="ellipse">
            <a:avLst/>
          </a:prstGeom>
          <a:solidFill>
            <a:srgbClr val="6DB33F"/>
          </a:solidFill>
          <a:ln/>
          <a:effectLst>
            <a:outerShdw blurRad="43180" dist="50800" dir="16200000" algn="bl" rotWithShape="0">
              <a:srgbClr val="6DB33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9"/>
          <p:cNvSpPr/>
          <p:nvPr/>
        </p:nvSpPr>
        <p:spPr>
          <a:xfrm>
            <a:off x="4359027" y="4243983"/>
            <a:ext cx="468377" cy="218331"/>
          </a:xfrm>
          <a:prstGeom prst="rect">
            <a:avLst/>
          </a:prstGeom>
          <a:noFill/>
          <a:ln/>
        </p:spPr>
        <p:txBody>
          <a:bodyPr wrap="none" lIns="0" tIns="10033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dirty="0">
                <a:solidFill>
                  <a:srgbClr val="6DB33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@SpringAI</a:t>
            </a:r>
            <a:endParaRPr lang="en-US" sz="1200" dirty="0"/>
          </a:p>
        </p:txBody>
      </p:sp>
      <p:sp>
        <p:nvSpPr>
          <p:cNvPr id="71" name="Text 60"/>
          <p:cNvSpPr/>
          <p:nvPr/>
        </p:nvSpPr>
        <p:spPr>
          <a:xfrm>
            <a:off x="5976788" y="1107728"/>
            <a:ext cx="2775496" cy="3507581"/>
          </a:xfrm>
          <a:prstGeom prst="roundRect">
            <a:avLst>
              <a:gd name="adj" fmla="val 4118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1"/>
          <p:cNvSpPr/>
          <p:nvPr/>
        </p:nvSpPr>
        <p:spPr>
          <a:xfrm>
            <a:off x="6025604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3438962"/>
                </a:lnTo>
                <a:lnTo>
                  <a:pt x="8334" y="3436127"/>
                </a:lnTo>
                <a:lnTo>
                  <a:pt x="7144" y="3433056"/>
                </a:lnTo>
                <a:lnTo>
                  <a:pt x="5953" y="3429688"/>
                </a:lnTo>
                <a:lnTo>
                  <a:pt x="4763" y="3425931"/>
                </a:lnTo>
                <a:lnTo>
                  <a:pt x="3572" y="3421632"/>
                </a:lnTo>
                <a:lnTo>
                  <a:pt x="2381" y="3416491"/>
                </a:lnTo>
                <a:lnTo>
                  <a:pt x="1191" y="3409736"/>
                </a:lnTo>
                <a:lnTo>
                  <a:pt x="0" y="339328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8791575" y="1107728"/>
            <a:ext cx="9525" cy="3507581"/>
          </a:xfrm>
          <a:custGeom>
            <a:avLst/>
            <a:gdLst/>
            <a:ahLst/>
            <a:cxnLst/>
            <a:rect l="l" t="t" r="r" b="b"/>
            <a:pathLst>
              <a:path w="9525" h="3507581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3393281"/>
                </a:lnTo>
                <a:lnTo>
                  <a:pt x="8334" y="3409736"/>
                </a:lnTo>
                <a:lnTo>
                  <a:pt x="7144" y="3416491"/>
                </a:lnTo>
                <a:lnTo>
                  <a:pt x="5953" y="3421632"/>
                </a:lnTo>
                <a:lnTo>
                  <a:pt x="4763" y="3425931"/>
                </a:lnTo>
                <a:lnTo>
                  <a:pt x="3572" y="3429688"/>
                </a:lnTo>
                <a:lnTo>
                  <a:pt x="2381" y="3433056"/>
                </a:lnTo>
                <a:lnTo>
                  <a:pt x="1191" y="3436127"/>
                </a:lnTo>
                <a:lnTo>
                  <a:pt x="0" y="3438962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3"/>
          <p:cNvSpPr/>
          <p:nvPr/>
        </p:nvSpPr>
        <p:spPr>
          <a:xfrm>
            <a:off x="6025604" y="1107728"/>
            <a:ext cx="2775496" cy="19050"/>
          </a:xfrm>
          <a:custGeom>
            <a:avLst/>
            <a:gdLst/>
            <a:ahLst/>
            <a:cxnLst/>
            <a:rect l="l" t="t" r="r" b="b"/>
            <a:pathLst>
              <a:path w="2775496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724377" y="19050"/>
                </a:lnTo>
                <a:lnTo>
                  <a:pt x="2720632" y="16669"/>
                </a:lnTo>
                <a:lnTo>
                  <a:pt x="2716531" y="14288"/>
                </a:lnTo>
                <a:lnTo>
                  <a:pt x="2711990" y="11906"/>
                </a:lnTo>
                <a:lnTo>
                  <a:pt x="2706876" y="9525"/>
                </a:lnTo>
                <a:lnTo>
                  <a:pt x="2700970" y="7144"/>
                </a:lnTo>
                <a:lnTo>
                  <a:pt x="2693846" y="4763"/>
                </a:lnTo>
                <a:lnTo>
                  <a:pt x="2684405" y="2381"/>
                </a:lnTo>
                <a:lnTo>
                  <a:pt x="2661196" y="0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4"/>
          <p:cNvSpPr/>
          <p:nvPr/>
        </p:nvSpPr>
        <p:spPr>
          <a:xfrm>
            <a:off x="7403757" y="1107728"/>
            <a:ext cx="1397343" cy="356870"/>
          </a:xfrm>
          <a:custGeom>
            <a:avLst/>
            <a:gdLst/>
            <a:ahLst/>
            <a:cxnLst/>
            <a:rect l="l" t="t" r="r" b="b"/>
            <a:pathLst>
              <a:path w="1397343" h="356870">
                <a:moveTo>
                  <a:pt x="0" y="0"/>
                </a:moveTo>
                <a:lnTo>
                  <a:pt x="0" y="356870"/>
                </a:lnTo>
                <a:lnTo>
                  <a:pt x="1397343" y="356870"/>
                </a:lnTo>
                <a:lnTo>
                  <a:pt x="1397343" y="114300"/>
                </a:lnTo>
                <a:lnTo>
                  <a:pt x="1395146" y="92001"/>
                </a:lnTo>
                <a:lnTo>
                  <a:pt x="1388642" y="70559"/>
                </a:lnTo>
                <a:lnTo>
                  <a:pt x="1378079" y="50798"/>
                </a:lnTo>
                <a:lnTo>
                  <a:pt x="1363865" y="33478"/>
                </a:lnTo>
                <a:lnTo>
                  <a:pt x="1346544" y="19263"/>
                </a:lnTo>
                <a:lnTo>
                  <a:pt x="1326783" y="8701"/>
                </a:lnTo>
                <a:lnTo>
                  <a:pt x="1305341" y="2196"/>
                </a:lnTo>
                <a:lnTo>
                  <a:pt x="1283043" y="0"/>
                </a:lnTo>
                <a:close/>
              </a:path>
            </a:pathLst>
          </a:custGeom>
          <a:gradFill rotWithShape="1">
            <a:gsLst>
              <a:gs pos="0">
                <a:srgbClr val="00C9FF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5"/>
          <p:cNvSpPr/>
          <p:nvPr/>
        </p:nvSpPr>
        <p:spPr>
          <a:xfrm>
            <a:off x="7184678" y="1298228"/>
            <a:ext cx="457200" cy="457200"/>
          </a:xfrm>
          <a:prstGeom prst="ellipse">
            <a:avLst/>
          </a:prstGeom>
          <a:solidFill>
            <a:srgbClr val="00C9FF">
              <a:alpha val="12000"/>
            </a:srgbClr>
          </a:solidFill>
          <a:ln/>
          <a:effectLst>
            <a:outerShdw blurRad="128270" dist="50800" dir="16200000" algn="bl" rotWithShape="0">
              <a:srgbClr val="00C9FF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1330" y="1424880"/>
            <a:ext cx="203746" cy="203746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6847136" y="1826419"/>
            <a:ext cx="1245677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SERVICES</a:t>
            </a:r>
            <a:endParaRPr lang="en-US" sz="1240" dirty="0"/>
          </a:p>
        </p:txBody>
      </p:sp>
      <p:sp>
        <p:nvSpPr>
          <p:cNvPr id="79" name="Text 67"/>
          <p:cNvSpPr/>
          <p:nvPr/>
        </p:nvSpPr>
        <p:spPr>
          <a:xfrm>
            <a:off x="7004000" y="2076450"/>
            <a:ext cx="90041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00C9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ENGINE</a:t>
            </a:r>
            <a:endParaRPr lang="en-US" sz="680" dirty="0"/>
          </a:p>
        </p:txBody>
      </p:sp>
      <p:sp>
        <p:nvSpPr>
          <p:cNvPr id="80" name="Text 68"/>
          <p:cNvSpPr/>
          <p:nvPr/>
        </p:nvSpPr>
        <p:spPr>
          <a:xfrm>
            <a:off x="6178600" y="2306241"/>
            <a:ext cx="2469505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9"/>
          <p:cNvSpPr/>
          <p:nvPr/>
        </p:nvSpPr>
        <p:spPr>
          <a:xfrm>
            <a:off x="6178600" y="2414141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LLM integration (GPT/Gemini)</a:t>
            </a:r>
            <a:endParaRPr lang="en-US" sz="790" dirty="0"/>
          </a:p>
        </p:txBody>
      </p:sp>
      <p:sp>
        <p:nvSpPr>
          <p:cNvPr id="82" name="Text 70"/>
          <p:cNvSpPr/>
          <p:nvPr/>
        </p:nvSpPr>
        <p:spPr>
          <a:xfrm>
            <a:off x="6178600" y="2635448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1"/>
          <p:cNvSpPr/>
          <p:nvPr/>
        </p:nvSpPr>
        <p:spPr>
          <a:xfrm>
            <a:off x="6178600" y="2503140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6178600" y="2644973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ML pipelines &amp; inference</a:t>
            </a:r>
            <a:endParaRPr lang="en-US" sz="790" dirty="0"/>
          </a:p>
        </p:txBody>
      </p:sp>
      <p:sp>
        <p:nvSpPr>
          <p:cNvPr id="85" name="Text 73"/>
          <p:cNvSpPr/>
          <p:nvPr/>
        </p:nvSpPr>
        <p:spPr>
          <a:xfrm>
            <a:off x="6178600" y="2866281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4"/>
          <p:cNvSpPr/>
          <p:nvPr/>
        </p:nvSpPr>
        <p:spPr>
          <a:xfrm>
            <a:off x="6178600" y="2733973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5"/>
          <p:cNvSpPr/>
          <p:nvPr/>
        </p:nvSpPr>
        <p:spPr>
          <a:xfrm>
            <a:off x="6178600" y="2875806"/>
            <a:ext cx="2469505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Vector databases (RAG)</a:t>
            </a:r>
            <a:endParaRPr lang="en-US" sz="790" dirty="0"/>
          </a:p>
        </p:txBody>
      </p:sp>
      <p:sp>
        <p:nvSpPr>
          <p:cNvPr id="88" name="Text 76"/>
          <p:cNvSpPr/>
          <p:nvPr/>
        </p:nvSpPr>
        <p:spPr>
          <a:xfrm>
            <a:off x="6178600" y="3097113"/>
            <a:ext cx="246950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7"/>
          <p:cNvSpPr/>
          <p:nvPr/>
        </p:nvSpPr>
        <p:spPr>
          <a:xfrm>
            <a:off x="6178600" y="2964805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8"/>
          <p:cNvSpPr/>
          <p:nvPr/>
        </p:nvSpPr>
        <p:spPr>
          <a:xfrm>
            <a:off x="6255841" y="3143970"/>
            <a:ext cx="1237000" cy="114300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APIs</a:t>
            </a:r>
            <a:endParaRPr lang="en-US" sz="790" dirty="0"/>
          </a:p>
        </p:txBody>
      </p:sp>
      <p:sp>
        <p:nvSpPr>
          <p:cNvPr id="91" name="Text 79"/>
          <p:cNvSpPr/>
          <p:nvPr/>
        </p:nvSpPr>
        <p:spPr>
          <a:xfrm>
            <a:off x="6178600" y="3195638"/>
            <a:ext cx="43160" cy="4316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0"/>
          <p:cNvSpPr/>
          <p:nvPr/>
        </p:nvSpPr>
        <p:spPr>
          <a:xfrm>
            <a:off x="7105799" y="4243983"/>
            <a:ext cx="676617" cy="218331"/>
          </a:xfrm>
          <a:prstGeom prst="rect">
            <a:avLst/>
          </a:prstGeom>
          <a:noFill/>
          <a:ln/>
        </p:spPr>
        <p:txBody>
          <a:bodyPr wrap="none" lIns="0" tIns="10033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dirty="0">
                <a:solidFill>
                  <a:srgbClr val="00C9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inference()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9740" y="1499890"/>
            <a:ext cx="2143720" cy="2143720"/>
          </a:xfrm>
          <a:prstGeom prst="ellipse">
            <a:avLst/>
          </a:prstGeom>
          <a:gradFill rotWithShape="1">
            <a:gsLst>
              <a:gs pos="0">
                <a:srgbClr val="F59E0B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36495" y="1321445"/>
            <a:ext cx="1707505" cy="2500610"/>
          </a:xfrm>
          <a:prstGeom prst="ellipse">
            <a:avLst/>
          </a:prstGeom>
          <a:gradFill rotWithShape="1">
            <a:gsLst>
              <a:gs pos="0">
                <a:srgbClr val="00C9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788640"/>
            <a:ext cx="3823392" cy="21580"/>
          </a:xfrm>
          <a:custGeom>
            <a:avLst/>
            <a:gdLst/>
            <a:ahLst/>
            <a:cxnLst/>
            <a:rect l="l" t="t" r="r" b="b"/>
            <a:pathLst>
              <a:path w="3823392" h="21580">
                <a:moveTo>
                  <a:pt x="86360" y="0"/>
                </a:moveTo>
                <a:lnTo>
                  <a:pt x="3737032" y="0"/>
                </a:lnTo>
                <a:lnTo>
                  <a:pt x="3758448" y="2698"/>
                </a:lnTo>
                <a:lnTo>
                  <a:pt x="3767077" y="5395"/>
                </a:lnTo>
                <a:lnTo>
                  <a:pt x="3773532" y="8093"/>
                </a:lnTo>
                <a:lnTo>
                  <a:pt x="3778832" y="10790"/>
                </a:lnTo>
                <a:lnTo>
                  <a:pt x="3783375" y="13488"/>
                </a:lnTo>
                <a:lnTo>
                  <a:pt x="3787366" y="16185"/>
                </a:lnTo>
                <a:lnTo>
                  <a:pt x="3790929" y="18883"/>
                </a:lnTo>
                <a:lnTo>
                  <a:pt x="379414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50000">
                <a:srgbClr val="92694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39010" y="788640"/>
            <a:ext cx="3823392" cy="21580"/>
          </a:xfrm>
          <a:custGeom>
            <a:avLst/>
            <a:gdLst/>
            <a:ahLst/>
            <a:cxnLst/>
            <a:rect l="l" t="t" r="r" b="b"/>
            <a:pathLst>
              <a:path w="3823392" h="21580">
                <a:moveTo>
                  <a:pt x="0" y="0"/>
                </a:moveTo>
                <a:lnTo>
                  <a:pt x="3737032" y="0"/>
                </a:lnTo>
                <a:lnTo>
                  <a:pt x="3737032" y="0"/>
                </a:lnTo>
                <a:lnTo>
                  <a:pt x="3753880" y="1659"/>
                </a:lnTo>
                <a:lnTo>
                  <a:pt x="3770081" y="6574"/>
                </a:lnTo>
                <a:lnTo>
                  <a:pt x="3785011" y="14554"/>
                </a:lnTo>
                <a:lnTo>
                  <a:pt x="3798098" y="21580"/>
                </a:lnTo>
                <a:lnTo>
                  <a:pt x="3808838" y="21580"/>
                </a:lnTo>
                <a:lnTo>
                  <a:pt x="3816818" y="21580"/>
                </a:lnTo>
                <a:lnTo>
                  <a:pt x="3821733" y="21580"/>
                </a:lnTo>
                <a:lnTo>
                  <a:pt x="3823392" y="21580"/>
                </a:lnTo>
                <a:lnTo>
                  <a:pt x="3823392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C9FF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070" y="257770"/>
            <a:ext cx="3389394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910" kern="0" spc="3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Architectural Transformation</a:t>
            </a:r>
            <a:endParaRPr lang="en-US" sz="1910" dirty="0"/>
          </a:p>
        </p:txBody>
      </p:sp>
      <p:sp>
        <p:nvSpPr>
          <p:cNvPr id="9" name="Text 7"/>
          <p:cNvSpPr/>
          <p:nvPr/>
        </p:nvSpPr>
        <p:spPr>
          <a:xfrm>
            <a:off x="3654028" y="435918"/>
            <a:ext cx="3829943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98271" y="342007"/>
            <a:ext cx="1197132" cy="195411"/>
          </a:xfrm>
          <a:prstGeom prst="roundRect">
            <a:avLst>
              <a:gd name="adj" fmla="val 73440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372070" y="779115"/>
            <a:ext cx="3842445" cy="3810446"/>
          </a:xfrm>
          <a:prstGeom prst="roundRect">
            <a:avLst>
              <a:gd name="adj" fmla="val 2266"/>
            </a:avLst>
          </a:prstGeom>
          <a:gradFill rotWithShape="1">
            <a:gsLst>
              <a:gs pos="0">
                <a:srgbClr val="12100A"/>
              </a:gs>
              <a:gs pos="100000">
                <a:srgbClr val="1A150A"/>
              </a:gs>
            </a:gsLst>
            <a:lin ang="4200000" scaled="1"/>
          </a:gradFill>
          <a:ln w="9525">
            <a:solidFill>
              <a:srgbClr val="F59E0B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941" y="916781"/>
            <a:ext cx="208322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0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TRADITIONAL ARCHITECTURE</a:t>
            </a:r>
            <a:endParaRPr lang="en-US" sz="84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634" y="930408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066" y="1177082"/>
            <a:ext cx="3536454" cy="293340"/>
          </a:xfrm>
          <a:prstGeom prst="roundRect">
            <a:avLst>
              <a:gd name="adj" fmla="val 16885"/>
            </a:avLst>
          </a:prstGeom>
          <a:solidFill>
            <a:srgbClr val="F59E0B">
              <a:alpha val="7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862673" y="1251347"/>
            <a:ext cx="99339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b="1" kern="0" spc="15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76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6805" y="1257458"/>
            <a:ext cx="132588" cy="132588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6999" y="1458870"/>
            <a:ext cx="132588" cy="1664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066" y="1613892"/>
            <a:ext cx="3536454" cy="293340"/>
          </a:xfrm>
          <a:prstGeom prst="roundRect">
            <a:avLst>
              <a:gd name="adj" fmla="val 16885"/>
            </a:avLst>
          </a:prstGeom>
          <a:solidFill>
            <a:srgbClr val="F59E0B">
              <a:alpha val="7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952543" y="1688157"/>
            <a:ext cx="81380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b="1" kern="0" spc="15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76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8511" y="1694268"/>
            <a:ext cx="132588" cy="132588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999" y="1895680"/>
            <a:ext cx="132588" cy="1664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066" y="2050703"/>
            <a:ext cx="3536454" cy="293340"/>
          </a:xfrm>
          <a:prstGeom prst="roundRect">
            <a:avLst>
              <a:gd name="adj" fmla="val 16885"/>
            </a:avLst>
          </a:prstGeom>
          <a:solidFill>
            <a:srgbClr val="F59E0B">
              <a:alpha val="7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2114952" y="2124968"/>
            <a:ext cx="488841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b="1" kern="0" spc="15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6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6149" y="2131079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43421" y="2444353"/>
            <a:ext cx="527447" cy="168786"/>
          </a:xfrm>
          <a:prstGeom prst="roundRect">
            <a:avLst>
              <a:gd name="adj" fmla="val 8502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</a:t>
            </a:r>
            <a:endParaRPr lang="en-US" sz="560" dirty="0"/>
          </a:p>
        </p:txBody>
      </p:sp>
      <p:sp>
        <p:nvSpPr>
          <p:cNvPr id="26" name="Text 18"/>
          <p:cNvSpPr/>
          <p:nvPr/>
        </p:nvSpPr>
        <p:spPr>
          <a:xfrm>
            <a:off x="1506289" y="2444353"/>
            <a:ext cx="700980" cy="168786"/>
          </a:xfrm>
          <a:prstGeom prst="roundRect">
            <a:avLst>
              <a:gd name="adj" fmla="val 8502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560" dirty="0"/>
          </a:p>
        </p:txBody>
      </p:sp>
      <p:sp>
        <p:nvSpPr>
          <p:cNvPr id="27" name="Text 19"/>
          <p:cNvSpPr/>
          <p:nvPr/>
        </p:nvSpPr>
        <p:spPr>
          <a:xfrm>
            <a:off x="2242691" y="2444353"/>
            <a:ext cx="656183" cy="168786"/>
          </a:xfrm>
          <a:prstGeom prst="roundRect">
            <a:avLst>
              <a:gd name="adj" fmla="val 8502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Workflows</a:t>
            </a:r>
            <a:endParaRPr lang="en-US" sz="560" dirty="0"/>
          </a:p>
        </p:txBody>
      </p:sp>
      <p:sp>
        <p:nvSpPr>
          <p:cNvPr id="28" name="Text 20"/>
          <p:cNvSpPr/>
          <p:nvPr/>
        </p:nvSpPr>
        <p:spPr>
          <a:xfrm>
            <a:off x="2934295" y="2444353"/>
            <a:ext cx="708868" cy="168786"/>
          </a:xfrm>
          <a:prstGeom prst="roundRect">
            <a:avLst>
              <a:gd name="adj" fmla="val 8502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Decisions</a:t>
            </a:r>
            <a:endParaRPr lang="en-US" sz="560" dirty="0"/>
          </a:p>
        </p:txBody>
      </p:sp>
      <p:sp>
        <p:nvSpPr>
          <p:cNvPr id="29" name="Text 21"/>
          <p:cNvSpPr/>
          <p:nvPr/>
        </p:nvSpPr>
        <p:spPr>
          <a:xfrm>
            <a:off x="489701" y="4218087"/>
            <a:ext cx="36071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560"/>
              </a:spcBef>
              <a:buNone/>
            </a:pPr>
            <a:r>
              <a:rPr lang="en-US" sz="650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rules, batch processing,</a:t>
            </a:r>
            <a:br/>
            <a:r>
              <a:rPr lang="en-US" sz="650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workflows, manual decisions</a:t>
            </a:r>
            <a:endParaRPr lang="en-US" sz="650" dirty="0"/>
          </a:p>
        </p:txBody>
      </p:sp>
      <p:sp>
        <p:nvSpPr>
          <p:cNvPr id="30" name="Text 22"/>
          <p:cNvSpPr/>
          <p:nvPr/>
        </p:nvSpPr>
        <p:spPr>
          <a:xfrm>
            <a:off x="4929485" y="779115"/>
            <a:ext cx="3842445" cy="3810446"/>
          </a:xfrm>
          <a:prstGeom prst="rect">
            <a:avLst/>
          </a:prstGeom>
          <a:gradFill rotWithShape="1">
            <a:gsLst>
              <a:gs pos="0">
                <a:srgbClr val="061524"/>
              </a:gs>
              <a:gs pos="100000">
                <a:srgbClr val="071E33"/>
              </a:gs>
            </a:gsLst>
            <a:lin ang="4200000" scaled="1"/>
          </a:gradFill>
          <a:ln w="9525">
            <a:solidFill>
              <a:srgbClr val="00C9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4939010" y="788640"/>
            <a:ext cx="3823395" cy="3791396"/>
          </a:xfrm>
          <a:prstGeom prst="rect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225355" y="916781"/>
            <a:ext cx="184011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0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 ARCHITECTURE</a:t>
            </a:r>
            <a:endParaRPr lang="en-US" sz="84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59049" y="930408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82480" y="1177082"/>
            <a:ext cx="3536454" cy="247352"/>
          </a:xfrm>
          <a:prstGeom prst="roundRect">
            <a:avLst>
              <a:gd name="adj" fmla="val 20024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6599359" y="1236018"/>
            <a:ext cx="62161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AI UI</a:t>
            </a:r>
            <a:endParaRPr lang="en-US" sz="68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158" y="1234389"/>
            <a:ext cx="132588" cy="132588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84339" y="1405969"/>
            <a:ext cx="132588" cy="151229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82480" y="1538734"/>
            <a:ext cx="3536454" cy="247352"/>
          </a:xfrm>
          <a:prstGeom prst="roundRect">
            <a:avLst>
              <a:gd name="adj" fmla="val 20024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8"/>
          <p:cNvSpPr/>
          <p:nvPr/>
        </p:nvSpPr>
        <p:spPr>
          <a:xfrm>
            <a:off x="6318595" y="1597670"/>
            <a:ext cx="118313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Gateway</a:t>
            </a:r>
            <a:endParaRPr lang="en-US" sz="68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1918" y="1596042"/>
            <a:ext cx="132588" cy="132588"/>
          </a:xfrm>
          <a:prstGeom prst="rect">
            <a:avLst/>
          </a:prstGeom>
        </p:spPr>
      </p:pic>
      <p:pic>
        <p:nvPicPr>
          <p:cNvPr id="4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4339" y="1767622"/>
            <a:ext cx="132588" cy="151229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082480" y="1900386"/>
            <a:ext cx="3536454" cy="400645"/>
          </a:xfrm>
          <a:prstGeom prst="roundRect">
            <a:avLst>
              <a:gd name="adj" fmla="val 12363"/>
            </a:avLst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65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6398143" y="1974652"/>
            <a:ext cx="101779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b="1" kern="0" spc="13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Layer</a:t>
            </a:r>
            <a:endParaRPr lang="en-US" sz="65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00201" y="1970196"/>
            <a:ext cx="132588" cy="13258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994225" y="2120057"/>
            <a:ext cx="371296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kern="0" spc="13" dirty="0">
                <a:solidFill>
                  <a:srgbClr val="00E5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+ ML</a:t>
            </a:r>
            <a:endParaRPr lang="en-US" sz="56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84339" y="2282567"/>
            <a:ext cx="132588" cy="151229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5082480" y="2415332"/>
            <a:ext cx="3536454" cy="247352"/>
          </a:xfrm>
          <a:prstGeom prst="roundRect">
            <a:avLst>
              <a:gd name="adj" fmla="val 20024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3"/>
          <p:cNvSpPr/>
          <p:nvPr/>
        </p:nvSpPr>
        <p:spPr>
          <a:xfrm>
            <a:off x="6442524" y="2474268"/>
            <a:ext cx="93528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Mesh</a:t>
            </a:r>
            <a:endParaRPr lang="en-US" sz="68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34580" y="2472639"/>
            <a:ext cx="132588" cy="132588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84339" y="2644219"/>
            <a:ext cx="132588" cy="151229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5082480" y="2776984"/>
            <a:ext cx="3536454" cy="241697"/>
          </a:xfrm>
          <a:prstGeom prst="roundRect">
            <a:avLst>
              <a:gd name="adj" fmla="val 20493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35"/>
          <p:cNvSpPr/>
          <p:nvPr/>
        </p:nvSpPr>
        <p:spPr>
          <a:xfrm>
            <a:off x="6303868" y="2835920"/>
            <a:ext cx="121244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b="1" kern="0" spc="13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Streams + Vector DB</a:t>
            </a:r>
            <a:endParaRPr lang="en-US" sz="65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08523" y="2831464"/>
            <a:ext cx="132588" cy="132588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5340995" y="3089672"/>
            <a:ext cx="803672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Intelligence</a:t>
            </a:r>
            <a:endParaRPr lang="en-US" sz="560" dirty="0"/>
          </a:p>
        </p:txBody>
      </p:sp>
      <p:sp>
        <p:nvSpPr>
          <p:cNvPr id="55" name="Text 37"/>
          <p:cNvSpPr/>
          <p:nvPr/>
        </p:nvSpPr>
        <p:spPr>
          <a:xfrm>
            <a:off x="6180088" y="3089672"/>
            <a:ext cx="716756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560" dirty="0"/>
          </a:p>
        </p:txBody>
      </p:sp>
      <p:sp>
        <p:nvSpPr>
          <p:cNvPr id="56" name="Text 38"/>
          <p:cNvSpPr/>
          <p:nvPr/>
        </p:nvSpPr>
        <p:spPr>
          <a:xfrm>
            <a:off x="6932265" y="3089672"/>
            <a:ext cx="770632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Workflows</a:t>
            </a:r>
            <a:endParaRPr lang="en-US" sz="560" dirty="0"/>
          </a:p>
        </p:txBody>
      </p:sp>
      <p:sp>
        <p:nvSpPr>
          <p:cNvPr id="57" name="Text 39"/>
          <p:cNvSpPr/>
          <p:nvPr/>
        </p:nvSpPr>
        <p:spPr>
          <a:xfrm>
            <a:off x="7738318" y="3089672"/>
            <a:ext cx="622102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Decisions</a:t>
            </a:r>
            <a:endParaRPr lang="en-US" sz="560" dirty="0"/>
          </a:p>
        </p:txBody>
      </p:sp>
      <p:sp>
        <p:nvSpPr>
          <p:cNvPr id="58" name="Text 40"/>
          <p:cNvSpPr/>
          <p:nvPr/>
        </p:nvSpPr>
        <p:spPr>
          <a:xfrm>
            <a:off x="5047116" y="4218087"/>
            <a:ext cx="36071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560"/>
              </a:spcBef>
              <a:buNone/>
            </a:pPr>
            <a:r>
              <a:rPr lang="en-US" sz="650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intelligence, real-time insights,</a:t>
            </a:r>
            <a:br/>
            <a:r>
              <a:rPr lang="en-US" sz="650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workflows, automated decisions</a:t>
            </a:r>
            <a:endParaRPr lang="en-US" sz="650" dirty="0"/>
          </a:p>
        </p:txBody>
      </p:sp>
      <p:sp>
        <p:nvSpPr>
          <p:cNvPr id="59" name="Text 41"/>
          <p:cNvSpPr/>
          <p:nvPr/>
        </p:nvSpPr>
        <p:spPr>
          <a:xfrm>
            <a:off x="372070" y="4689872"/>
            <a:ext cx="8399859" cy="296168"/>
          </a:xfrm>
          <a:prstGeom prst="roundRect">
            <a:avLst>
              <a:gd name="adj" fmla="val 19296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40000"/>
              </a:srgbClr>
            </a:solidFill>
          </a:ln>
          <a:effectLst>
            <a:outerShdw blurRad="143510" dist="50800" dir="16200000" algn="bl" rotWithShape="0">
              <a:srgbClr val="00C9FF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1772" y="4771587"/>
            <a:ext cx="132588" cy="132588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743396" y="4770388"/>
            <a:ext cx="412404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76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AI-Native is not a rewrite — it's an intelligent evolution of your architecture.</a:t>
            </a:r>
            <a:endParaRPr lang="en-US" sz="76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31047" y="1827014"/>
            <a:ext cx="481905" cy="1714500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 rot="10800000">
            <a:off x="4339233" y="2463105"/>
            <a:ext cx="465534" cy="455587"/>
          </a:xfrm>
          <a:prstGeom prst="roundRect">
            <a:avLst>
              <a:gd name="adj" fmla="val 31500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229235" tIns="71120" rIns="29210" bIns="71120" rtlCol="0" anchor="t"/>
          <a:lstStyle/>
          <a:p>
            <a:pPr marL="0" indent="0" algn="ctr">
              <a:buNone/>
            </a:pPr>
            <a:r>
              <a:rPr lang="en-US" sz="510" b="1" kern="0" spc="92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5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42151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030" y="1643360"/>
            <a:ext cx="5286970" cy="35001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0"/>
            <a:ext cx="557272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alphaModFix amt="4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7882" y="1446386"/>
            <a:ext cx="2036118" cy="225072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42900" y="759023"/>
            <a:ext cx="37147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342900" y="257770"/>
            <a:ext cx="3789045" cy="51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 User Experiences with Angular</a:t>
            </a:r>
            <a:endParaRPr lang="en-US" sz="1690" dirty="0"/>
          </a:p>
        </p:txBody>
      </p:sp>
      <p:sp>
        <p:nvSpPr>
          <p:cNvPr id="8" name="Text 2"/>
          <p:cNvSpPr/>
          <p:nvPr/>
        </p:nvSpPr>
        <p:spPr>
          <a:xfrm>
            <a:off x="342900" y="794445"/>
            <a:ext cx="40862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 i="1" kern="0" spc="1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user meets AI</a:t>
            </a:r>
            <a:endParaRPr lang="en-US" sz="840" dirty="0"/>
          </a:p>
        </p:txBody>
      </p:sp>
      <p:sp>
        <p:nvSpPr>
          <p:cNvPr id="9" name="Text 3"/>
          <p:cNvSpPr/>
          <p:nvPr/>
        </p:nvSpPr>
        <p:spPr>
          <a:xfrm>
            <a:off x="342900" y="1082576"/>
            <a:ext cx="3714750" cy="3803154"/>
          </a:xfrm>
          <a:prstGeom prst="roundRect">
            <a:avLst>
              <a:gd name="adj" fmla="val 2325"/>
            </a:avLst>
          </a:prstGeom>
          <a:solidFill>
            <a:srgbClr val="0D1F3A"/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352425" y="1092101"/>
            <a:ext cx="3695700" cy="239613"/>
          </a:xfrm>
          <a:prstGeom prst="rect">
            <a:avLst/>
          </a:prstGeom>
          <a:solidFill>
            <a:srgbClr val="00C9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352425" y="1322189"/>
            <a:ext cx="3695700" cy="9525"/>
          </a:xfrm>
          <a:prstGeom prst="rect">
            <a:avLst/>
          </a:prstGeom>
          <a:solidFill>
            <a:srgbClr val="00C9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423416" y="1182439"/>
            <a:ext cx="49411" cy="4941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508248" y="1182439"/>
            <a:ext cx="49411" cy="4941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593080" y="1182439"/>
            <a:ext cx="49411" cy="49411"/>
          </a:xfrm>
          <a:prstGeom prst="ellipse">
            <a:avLst/>
          </a:prstGeom>
          <a:solidFill>
            <a:srgbClr val="28CA4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2155" y="1140702"/>
            <a:ext cx="132588" cy="132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08249" y="1153716"/>
            <a:ext cx="81298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Portal</a:t>
            </a:r>
            <a:endParaRPr lang="en-US" sz="560" dirty="0"/>
          </a:p>
        </p:txBody>
      </p:sp>
      <p:sp>
        <p:nvSpPr>
          <p:cNvPr id="17" name="Text 10"/>
          <p:cNvSpPr/>
          <p:nvPr/>
        </p:nvSpPr>
        <p:spPr>
          <a:xfrm>
            <a:off x="3416647" y="1135261"/>
            <a:ext cx="560487" cy="158145"/>
          </a:xfrm>
          <a:prstGeom prst="roundRect">
            <a:avLst>
              <a:gd name="adj" fmla="val 18470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v3.8 · AI-Native</a:t>
            </a:r>
            <a:endParaRPr lang="en-US" sz="510" dirty="0"/>
          </a:p>
        </p:txBody>
      </p:sp>
      <p:sp>
        <p:nvSpPr>
          <p:cNvPr id="18" name="Text 11"/>
          <p:cNvSpPr/>
          <p:nvPr/>
        </p:nvSpPr>
        <p:spPr>
          <a:xfrm>
            <a:off x="352425" y="1331714"/>
            <a:ext cx="328910" cy="3544491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671810" y="1331714"/>
            <a:ext cx="9525" cy="3544491"/>
          </a:xfrm>
          <a:prstGeom prst="rect">
            <a:avLst/>
          </a:prstGeom>
          <a:solidFill>
            <a:srgbClr val="00C9FF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04813" y="1402705"/>
            <a:ext cx="214610" cy="214610"/>
          </a:xfrm>
          <a:prstGeom prst="roundRect">
            <a:avLst>
              <a:gd name="adj" fmla="val 23079"/>
            </a:avLst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5749" y="1443642"/>
            <a:ext cx="132588" cy="13258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5749" y="1744572"/>
            <a:ext cx="132588" cy="132588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749" y="2045503"/>
            <a:ext cx="132588" cy="132588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749" y="2346433"/>
            <a:ext cx="132588" cy="132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67655" y="1402705"/>
            <a:ext cx="3194149" cy="261640"/>
          </a:xfrm>
          <a:prstGeom prst="roundRect">
            <a:avLst>
              <a:gd name="adj" fmla="val 21843"/>
            </a:avLst>
          </a:prstGeom>
          <a:solidFill>
            <a:srgbClr val="00C9FF">
              <a:alpha val="6000"/>
            </a:srgbClr>
          </a:solidFill>
          <a:ln w="9525">
            <a:solidFill>
              <a:srgbClr val="00C9FF">
                <a:alpha val="30000"/>
              </a:srgbClr>
            </a:solidFill>
          </a:ln>
          <a:effectLst>
            <a:outerShdw blurRad="71120" dist="50800" dir="16200000" algn="bl" rotWithShape="0">
              <a:srgbClr val="00C9FF">
                <a:alpha val="1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958" y="1467157"/>
            <a:ext cx="132588" cy="1325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90154" y="1474440"/>
            <a:ext cx="284595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anything... ⚡ Semantic AI Search</a:t>
            </a:r>
            <a:endParaRPr lang="en-US" sz="620" dirty="0"/>
          </a:p>
        </p:txBody>
      </p:sp>
      <p:sp>
        <p:nvSpPr>
          <p:cNvPr id="28" name="Text 16"/>
          <p:cNvSpPr/>
          <p:nvPr/>
        </p:nvSpPr>
        <p:spPr>
          <a:xfrm>
            <a:off x="3634532" y="1461641"/>
            <a:ext cx="231428" cy="158145"/>
          </a:xfrm>
          <a:prstGeom prst="roundRect">
            <a:avLst>
              <a:gd name="adj" fmla="val 18470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9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510" dirty="0"/>
          </a:p>
        </p:txBody>
      </p:sp>
      <p:sp>
        <p:nvSpPr>
          <p:cNvPr id="29" name="Text 17"/>
          <p:cNvSpPr/>
          <p:nvPr/>
        </p:nvSpPr>
        <p:spPr>
          <a:xfrm>
            <a:off x="767655" y="1729085"/>
            <a:ext cx="22241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3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PREDICTIVE ANALYTICS</a:t>
            </a:r>
            <a:endParaRPr lang="en-US" sz="560" dirty="0"/>
          </a:p>
        </p:txBody>
      </p:sp>
      <p:sp>
        <p:nvSpPr>
          <p:cNvPr id="30" name="Text 18"/>
          <p:cNvSpPr/>
          <p:nvPr/>
        </p:nvSpPr>
        <p:spPr>
          <a:xfrm>
            <a:off x="767655" y="1885206"/>
            <a:ext cx="2021979" cy="1459706"/>
          </a:xfrm>
          <a:prstGeom prst="roundRect">
            <a:avLst>
              <a:gd name="adj" fmla="val 3915"/>
            </a:avLst>
          </a:prstGeom>
          <a:solidFill>
            <a:srgbClr val="000000">
              <a:alpha val="25000"/>
            </a:srgbClr>
          </a:solidFill>
          <a:ln w="9525">
            <a:solidFill>
              <a:srgbClr val="00C9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19"/>
          <p:cNvSpPr/>
          <p:nvPr/>
        </p:nvSpPr>
        <p:spPr>
          <a:xfrm>
            <a:off x="834330" y="1959471"/>
            <a:ext cx="58199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510" dirty="0"/>
          </a:p>
        </p:txBody>
      </p:sp>
      <p:sp>
        <p:nvSpPr>
          <p:cNvPr id="32" name="Text 20"/>
          <p:cNvSpPr/>
          <p:nvPr/>
        </p:nvSpPr>
        <p:spPr>
          <a:xfrm>
            <a:off x="2376931" y="1951881"/>
            <a:ext cx="349454" cy="112216"/>
          </a:xfrm>
          <a:prstGeom prst="roundRect">
            <a:avLst>
              <a:gd name="adj" fmla="val 26030"/>
            </a:avLst>
          </a:prstGeom>
          <a:solidFill>
            <a:srgbClr val="28CA41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28C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+18.4%</a:t>
            </a:r>
            <a:endParaRPr lang="en-US" sz="51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4330" y="2099518"/>
            <a:ext cx="1888629" cy="5715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67655" y="3394323"/>
            <a:ext cx="986284" cy="409752"/>
          </a:xfrm>
          <a:prstGeom prst="roundRect">
            <a:avLst>
              <a:gd name="adj" fmla="val 12088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00C9FF">
                <a:alpha val="10000"/>
              </a:srgbClr>
            </a:solidFill>
          </a:ln>
        </p:spPr>
        <p:txBody>
          <a:bodyPr wrap="square" lIns="57150" tIns="43180" rIns="57150" bIns="43180" rtlCol="0" anchor="t"/>
          <a:lstStyle/>
          <a:p>
            <a:pPr marL="0" indent="0" algn="l"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51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12.4K</a:t>
            </a:r>
            <a:endParaRPr lang="en-US" sz="510" dirty="0"/>
          </a:p>
        </p:txBody>
      </p:sp>
      <p:sp>
        <p:nvSpPr>
          <p:cNvPr id="35" name="Text 22"/>
          <p:cNvSpPr/>
          <p:nvPr/>
        </p:nvSpPr>
        <p:spPr>
          <a:xfrm>
            <a:off x="834330" y="3710285"/>
            <a:ext cx="852934" cy="29170"/>
          </a:xfrm>
          <a:prstGeom prst="roundRect">
            <a:avLst>
              <a:gd name="adj" fmla="val 47892"/>
            </a:avLst>
          </a:prstGeom>
          <a:solidFill>
            <a:srgbClr val="00C9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3"/>
          <p:cNvSpPr/>
          <p:nvPr/>
        </p:nvSpPr>
        <p:spPr>
          <a:xfrm>
            <a:off x="834330" y="3710285"/>
            <a:ext cx="614065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50000"/>
                </a:srgbClr>
              </a:gs>
            </a:gsLst>
            <a:lin ang="0" scaled="1"/>
          </a:gradFill>
          <a:ln/>
          <a:effectLst>
            <a:outerShdw blurRad="4318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4"/>
          <p:cNvSpPr/>
          <p:nvPr/>
        </p:nvSpPr>
        <p:spPr>
          <a:xfrm>
            <a:off x="1803350" y="3394323"/>
            <a:ext cx="986284" cy="409752"/>
          </a:xfrm>
          <a:prstGeom prst="roundRect">
            <a:avLst>
              <a:gd name="adj" fmla="val 12088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00C9FF">
                <a:alpha val="10000"/>
              </a:srgbClr>
            </a:solidFill>
          </a:ln>
        </p:spPr>
        <p:txBody>
          <a:bodyPr wrap="square" lIns="57150" tIns="43180" rIns="57150" bIns="43180" rtlCol="0" anchor="t"/>
          <a:lstStyle/>
          <a:p>
            <a:pPr marL="0" indent="0" algn="l"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51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8C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510" dirty="0"/>
          </a:p>
        </p:txBody>
      </p:sp>
      <p:sp>
        <p:nvSpPr>
          <p:cNvPr id="38" name="Text 25"/>
          <p:cNvSpPr/>
          <p:nvPr/>
        </p:nvSpPr>
        <p:spPr>
          <a:xfrm>
            <a:off x="1870025" y="3710285"/>
            <a:ext cx="852934" cy="29170"/>
          </a:xfrm>
          <a:prstGeom prst="roundRect">
            <a:avLst>
              <a:gd name="adj" fmla="val 47892"/>
            </a:avLst>
          </a:prstGeom>
          <a:solidFill>
            <a:srgbClr val="00C9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6"/>
          <p:cNvSpPr/>
          <p:nvPr/>
        </p:nvSpPr>
        <p:spPr>
          <a:xfrm>
            <a:off x="1870025" y="3710285"/>
            <a:ext cx="801737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28CA41"/>
              </a:gs>
              <a:gs pos="100000">
                <a:srgbClr val="28CA41">
                  <a:alpha val="40000"/>
                </a:srgbClr>
              </a:gs>
            </a:gsLst>
            <a:lin ang="0" scaled="1"/>
          </a:gradFill>
          <a:ln/>
          <a:effectLst>
            <a:outerShdw blurRad="43180" dist="50800" dir="16200000" algn="bl" rotWithShape="0">
              <a:srgbClr val="28CA41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7"/>
          <p:cNvSpPr/>
          <p:nvPr/>
        </p:nvSpPr>
        <p:spPr>
          <a:xfrm>
            <a:off x="2854375" y="1729085"/>
            <a:ext cx="1107430" cy="2063055"/>
          </a:xfrm>
          <a:prstGeom prst="roundRect">
            <a:avLst>
              <a:gd name="adj" fmla="val 5161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2863900" y="1738610"/>
            <a:ext cx="1088380" cy="177403"/>
          </a:xfrm>
          <a:prstGeom prst="rect">
            <a:avLst/>
          </a:prstGeom>
          <a:solidFill>
            <a:srgbClr val="00C9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29"/>
          <p:cNvSpPr/>
          <p:nvPr/>
        </p:nvSpPr>
        <p:spPr>
          <a:xfrm>
            <a:off x="2863900" y="1906488"/>
            <a:ext cx="1088380" cy="9525"/>
          </a:xfrm>
          <a:prstGeom prst="rect">
            <a:avLst/>
          </a:prstGeom>
          <a:solidFill>
            <a:srgbClr val="00C9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2921050" y="1793974"/>
            <a:ext cx="57150" cy="57150"/>
          </a:xfrm>
          <a:prstGeom prst="ellipse">
            <a:avLst/>
          </a:prstGeom>
          <a:solidFill>
            <a:srgbClr val="28CA41"/>
          </a:solidFill>
          <a:ln/>
          <a:effectLst>
            <a:outerShdw blurRad="35560" dist="50800" dir="16200000" algn="bl" rotWithShape="0">
              <a:srgbClr val="28CA41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1"/>
          <p:cNvSpPr/>
          <p:nvPr/>
        </p:nvSpPr>
        <p:spPr>
          <a:xfrm>
            <a:off x="3013621" y="1774031"/>
            <a:ext cx="33626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510" dirty="0"/>
          </a:p>
        </p:txBody>
      </p:sp>
      <p:sp>
        <p:nvSpPr>
          <p:cNvPr id="45" name="Text 32"/>
          <p:cNvSpPr/>
          <p:nvPr/>
        </p:nvSpPr>
        <p:spPr>
          <a:xfrm>
            <a:off x="3160812" y="1965424"/>
            <a:ext cx="742057" cy="351654"/>
          </a:xfrm>
          <a:prstGeom prst="roundRect">
            <a:avLst>
              <a:gd name="adj" fmla="val 20224"/>
            </a:avLst>
          </a:prstGeom>
          <a:solidFill>
            <a:srgbClr val="6478B4">
              <a:alpha val="15000"/>
            </a:srgbClr>
          </a:solidFill>
          <a:ln w="9525">
            <a:solidFill>
              <a:srgbClr val="6478B4">
                <a:alpha val="2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marL="0" indent="0" algn="l">
              <a:buNone/>
            </a:pPr>
            <a:r>
              <a:rPr lang="en-US" sz="62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Q2 anomalies</a:t>
            </a:r>
            <a:endParaRPr lang="en-US" sz="620" dirty="0"/>
          </a:p>
        </p:txBody>
      </p:sp>
      <p:sp>
        <p:nvSpPr>
          <p:cNvPr id="46" name="Text 33"/>
          <p:cNvSpPr/>
          <p:nvPr/>
        </p:nvSpPr>
        <p:spPr>
          <a:xfrm>
            <a:off x="2913311" y="2342257"/>
            <a:ext cx="841028" cy="716338"/>
          </a:xfrm>
          <a:prstGeom prst="roundRect">
            <a:avLst>
              <a:gd name="adj" fmla="val 992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marL="0" indent="0" algn="l">
              <a:buNone/>
            </a:pPr>
            <a:r>
              <a:rPr lang="en-US" sz="62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3 anomalies in Q2. Revenue dip on May 14 — likely supply delay. Want me to drill down?</a:t>
            </a:r>
            <a:endParaRPr lang="en-US" sz="620" dirty="0"/>
          </a:p>
        </p:txBody>
      </p:sp>
      <p:sp>
        <p:nvSpPr>
          <p:cNvPr id="47" name="Text 34"/>
          <p:cNvSpPr/>
          <p:nvPr/>
        </p:nvSpPr>
        <p:spPr>
          <a:xfrm>
            <a:off x="3160812" y="3073152"/>
            <a:ext cx="742057" cy="351654"/>
          </a:xfrm>
          <a:prstGeom prst="roundRect">
            <a:avLst>
              <a:gd name="adj" fmla="val 20224"/>
            </a:avLst>
          </a:prstGeom>
          <a:solidFill>
            <a:srgbClr val="6478B4">
              <a:alpha val="15000"/>
            </a:srgbClr>
          </a:solidFill>
          <a:ln w="9525">
            <a:solidFill>
              <a:srgbClr val="6478B4">
                <a:alpha val="2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marL="0" indent="0" algn="l">
              <a:buNone/>
            </a:pPr>
            <a:r>
              <a:rPr lang="en-US" sz="62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show details</a:t>
            </a:r>
            <a:endParaRPr lang="en-US" sz="620" dirty="0"/>
          </a:p>
        </p:txBody>
      </p:sp>
      <p:sp>
        <p:nvSpPr>
          <p:cNvPr id="48" name="Text 35"/>
          <p:cNvSpPr/>
          <p:nvPr/>
        </p:nvSpPr>
        <p:spPr>
          <a:xfrm>
            <a:off x="2913311" y="3449985"/>
            <a:ext cx="857849" cy="77837"/>
          </a:xfrm>
          <a:prstGeom prst="roundRect">
            <a:avLst>
              <a:gd name="adj" fmla="val 91370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71120" tIns="43180" rIns="71120" bIns="4318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</a:t>
            </a:r>
            <a:endParaRPr lang="en-US" sz="620" dirty="0"/>
          </a:p>
        </p:txBody>
      </p:sp>
      <p:sp>
        <p:nvSpPr>
          <p:cNvPr id="49" name="Text 36"/>
          <p:cNvSpPr/>
          <p:nvPr/>
        </p:nvSpPr>
        <p:spPr>
          <a:xfrm>
            <a:off x="2863900" y="3527822"/>
            <a:ext cx="1088380" cy="9525"/>
          </a:xfrm>
          <a:prstGeom prst="rect">
            <a:avLst/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2913311" y="3572768"/>
            <a:ext cx="1009349" cy="174427"/>
          </a:xfrm>
          <a:prstGeom prst="roundRect">
            <a:avLst>
              <a:gd name="adj" fmla="val 20387"/>
            </a:avLst>
          </a:prstGeom>
          <a:solidFill>
            <a:srgbClr val="00C9FF">
              <a:alpha val="7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121603" tIns="29210" rIns="49530" bIns="29210" rtlCol="0" anchor="ctr"/>
          <a:lstStyle/>
          <a:p>
            <a:pPr marL="0" indent="0" algn="l">
              <a:buNone/>
            </a:pPr>
            <a:r>
              <a:rPr lang="en-US" sz="510" dirty="0">
                <a:solidFill>
                  <a:srgbClr val="00C9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or speak...</a:t>
            </a:r>
            <a:endParaRPr lang="en-US" sz="51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7384" y="3593687"/>
            <a:ext cx="132588" cy="13258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67655" y="3856881"/>
            <a:ext cx="3194149" cy="948333"/>
          </a:xfrm>
          <a:prstGeom prst="roundRect">
            <a:avLst>
              <a:gd name="adj" fmla="val 6026"/>
            </a:avLst>
          </a:prstGeom>
          <a:solidFill>
            <a:srgbClr val="060F1E"/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100330" dist="50800" dir="16200000" algn="bl" rotWithShape="0">
              <a:srgbClr val="00C9FF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39"/>
          <p:cNvSpPr/>
          <p:nvPr/>
        </p:nvSpPr>
        <p:spPr>
          <a:xfrm>
            <a:off x="1483965" y="3923556"/>
            <a:ext cx="102908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51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Angular AI Integration</a:t>
            </a:r>
            <a:endParaRPr lang="en-US" sz="51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8638" y="3909054"/>
            <a:ext cx="132588" cy="13258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863501" y="4056311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providedIn: </a:t>
            </a:r>
            <a:r>
              <a:rPr lang="en-US" sz="56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'root'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560" dirty="0"/>
          </a:p>
        </p:txBody>
      </p:sp>
      <p:sp>
        <p:nvSpPr>
          <p:cNvPr id="56" name="Text 41"/>
          <p:cNvSpPr/>
          <p:nvPr/>
        </p:nvSpPr>
        <p:spPr>
          <a:xfrm>
            <a:off x="863501" y="4170015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56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AiService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560" dirty="0"/>
          </a:p>
        </p:txBody>
      </p:sp>
      <p:sp>
        <p:nvSpPr>
          <p:cNvPr id="57" name="Text 42"/>
          <p:cNvSpPr/>
          <p:nvPr/>
        </p:nvSpPr>
        <p:spPr>
          <a:xfrm>
            <a:off x="863501" y="4283720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56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streamCompletion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(prompt: </a:t>
            </a:r>
            <a:r>
              <a:rPr lang="en-US" sz="56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56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56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</a:t>
            </a:r>
            <a:endParaRPr lang="en-US" sz="560" dirty="0"/>
          </a:p>
        </p:txBody>
      </p:sp>
      <p:sp>
        <p:nvSpPr>
          <p:cNvPr id="58" name="Text 43"/>
          <p:cNvSpPr/>
          <p:nvPr/>
        </p:nvSpPr>
        <p:spPr>
          <a:xfrm>
            <a:off x="863501" y="4397425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56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56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fromEventSource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56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`/api/ai/stream`</a:t>
            </a: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 prompt });</a:t>
            </a:r>
            <a:endParaRPr lang="en-US" sz="560" dirty="0"/>
          </a:p>
        </p:txBody>
      </p:sp>
      <p:sp>
        <p:nvSpPr>
          <p:cNvPr id="59" name="Text 44"/>
          <p:cNvSpPr/>
          <p:nvPr/>
        </p:nvSpPr>
        <p:spPr>
          <a:xfrm>
            <a:off x="863501" y="4511129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56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SSE-powered LLM streaming ✦</a:t>
            </a:r>
            <a:endParaRPr lang="en-US" sz="560" dirty="0"/>
          </a:p>
        </p:txBody>
      </p:sp>
      <p:sp>
        <p:nvSpPr>
          <p:cNvPr id="60" name="Text 45"/>
          <p:cNvSpPr/>
          <p:nvPr/>
        </p:nvSpPr>
        <p:spPr>
          <a:xfrm>
            <a:off x="863501" y="4624834"/>
            <a:ext cx="3302704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56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60" dirty="0"/>
          </a:p>
        </p:txBody>
      </p:sp>
      <p:sp>
        <p:nvSpPr>
          <p:cNvPr id="61" name="Text 46"/>
          <p:cNvSpPr/>
          <p:nvPr/>
        </p:nvSpPr>
        <p:spPr>
          <a:xfrm>
            <a:off x="4258270" y="515541"/>
            <a:ext cx="7590" cy="411241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4495651" y="1299567"/>
            <a:ext cx="4305449" cy="398264"/>
          </a:xfrm>
          <a:prstGeom prst="roundRect">
            <a:avLst>
              <a:gd name="adj" fmla="val 17858"/>
            </a:avLst>
          </a:prstGeom>
          <a:solidFill>
            <a:srgbClr val="0D1F3A"/>
          </a:solidFill>
          <a:ln/>
          <a:effectLst>
            <a:outerShdw blurRad="86360" dist="50800" dir="16200000" algn="bl" rotWithShape="0">
              <a:srgbClr val="00C9FF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4495651" y="1299567"/>
            <a:ext cx="19050" cy="398264"/>
          </a:xfrm>
          <a:custGeom>
            <a:avLst/>
            <a:gdLst/>
            <a:ahLst/>
            <a:cxnLst/>
            <a:rect l="l" t="t" r="r" b="b"/>
            <a:pathLst>
              <a:path w="19050" h="39826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5588"/>
                </a:lnTo>
                <a:lnTo>
                  <a:pt x="16669" y="372895"/>
                </a:lnTo>
                <a:lnTo>
                  <a:pt x="14288" y="369901"/>
                </a:lnTo>
                <a:lnTo>
                  <a:pt x="11906" y="366537"/>
                </a:lnTo>
                <a:lnTo>
                  <a:pt x="9525" y="362698"/>
                </a:lnTo>
                <a:lnTo>
                  <a:pt x="7144" y="358210"/>
                </a:lnTo>
                <a:lnTo>
                  <a:pt x="4763" y="352732"/>
                </a:lnTo>
                <a:lnTo>
                  <a:pt x="2381" y="345393"/>
                </a:lnTo>
                <a:lnTo>
                  <a:pt x="0" y="327144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49"/>
          <p:cNvSpPr/>
          <p:nvPr/>
        </p:nvSpPr>
        <p:spPr>
          <a:xfrm>
            <a:off x="4615011" y="1373832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69863" y="1428685"/>
            <a:ext cx="132588" cy="132588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4943773" y="1373832"/>
            <a:ext cx="41222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Interfaces</a:t>
            </a:r>
            <a:endParaRPr lang="en-US" sz="790" dirty="0"/>
          </a:p>
        </p:txBody>
      </p:sp>
      <p:sp>
        <p:nvSpPr>
          <p:cNvPr id="67" name="Text 51"/>
          <p:cNvSpPr/>
          <p:nvPr/>
        </p:nvSpPr>
        <p:spPr>
          <a:xfrm>
            <a:off x="4943773" y="1507927"/>
            <a:ext cx="41222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LLM chat, copilot sidebars, and voice commands</a:t>
            </a:r>
            <a:endParaRPr lang="en-US" sz="650" dirty="0"/>
          </a:p>
        </p:txBody>
      </p:sp>
      <p:sp>
        <p:nvSpPr>
          <p:cNvPr id="68" name="Text 52"/>
          <p:cNvSpPr/>
          <p:nvPr/>
        </p:nvSpPr>
        <p:spPr>
          <a:xfrm>
            <a:off x="4495651" y="1768822"/>
            <a:ext cx="4305449" cy="398264"/>
          </a:xfrm>
          <a:prstGeom prst="roundRect">
            <a:avLst>
              <a:gd name="adj" fmla="val 17858"/>
            </a:avLst>
          </a:prstGeom>
          <a:solidFill>
            <a:srgbClr val="0D1F3A"/>
          </a:solidFill>
          <a:ln/>
          <a:effectLst>
            <a:outerShdw blurRad="86360" dist="50800" dir="16200000" algn="bl" rotWithShape="0">
              <a:srgbClr val="00C9FF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3"/>
          <p:cNvSpPr/>
          <p:nvPr/>
        </p:nvSpPr>
        <p:spPr>
          <a:xfrm>
            <a:off x="4495651" y="1768822"/>
            <a:ext cx="19050" cy="398264"/>
          </a:xfrm>
          <a:custGeom>
            <a:avLst/>
            <a:gdLst/>
            <a:ahLst/>
            <a:cxnLst/>
            <a:rect l="l" t="t" r="r" b="b"/>
            <a:pathLst>
              <a:path w="19050" h="39826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5588"/>
                </a:lnTo>
                <a:lnTo>
                  <a:pt x="16669" y="372895"/>
                </a:lnTo>
                <a:lnTo>
                  <a:pt x="14288" y="369901"/>
                </a:lnTo>
                <a:lnTo>
                  <a:pt x="11906" y="366537"/>
                </a:lnTo>
                <a:lnTo>
                  <a:pt x="9525" y="362698"/>
                </a:lnTo>
                <a:lnTo>
                  <a:pt x="7144" y="358210"/>
                </a:lnTo>
                <a:lnTo>
                  <a:pt x="4763" y="352732"/>
                </a:lnTo>
                <a:lnTo>
                  <a:pt x="2381" y="345393"/>
                </a:lnTo>
                <a:lnTo>
                  <a:pt x="0" y="327144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4"/>
          <p:cNvSpPr/>
          <p:nvPr/>
        </p:nvSpPr>
        <p:spPr>
          <a:xfrm>
            <a:off x="4615011" y="184308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69863" y="1897940"/>
            <a:ext cx="132588" cy="132588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4943773" y="1843088"/>
            <a:ext cx="41222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Dashboards</a:t>
            </a:r>
            <a:endParaRPr lang="en-US" sz="790" dirty="0"/>
          </a:p>
        </p:txBody>
      </p:sp>
      <p:sp>
        <p:nvSpPr>
          <p:cNvPr id="73" name="Text 56"/>
          <p:cNvSpPr/>
          <p:nvPr/>
        </p:nvSpPr>
        <p:spPr>
          <a:xfrm>
            <a:off x="4943773" y="1977182"/>
            <a:ext cx="41222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ML-powered analytics and anomaly detection</a:t>
            </a:r>
            <a:endParaRPr lang="en-US" sz="650" dirty="0"/>
          </a:p>
        </p:txBody>
      </p:sp>
      <p:sp>
        <p:nvSpPr>
          <p:cNvPr id="74" name="Text 57"/>
          <p:cNvSpPr/>
          <p:nvPr/>
        </p:nvSpPr>
        <p:spPr>
          <a:xfrm>
            <a:off x="4495651" y="2238077"/>
            <a:ext cx="4305449" cy="398264"/>
          </a:xfrm>
          <a:prstGeom prst="roundRect">
            <a:avLst>
              <a:gd name="adj" fmla="val 17858"/>
            </a:avLst>
          </a:prstGeom>
          <a:solidFill>
            <a:srgbClr val="0D1F3A"/>
          </a:solidFill>
          <a:ln/>
          <a:effectLst>
            <a:outerShdw blurRad="86360" dist="50800" dir="16200000" algn="bl" rotWithShape="0">
              <a:srgbClr val="00C9FF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58"/>
          <p:cNvSpPr/>
          <p:nvPr/>
        </p:nvSpPr>
        <p:spPr>
          <a:xfrm>
            <a:off x="4495651" y="2238077"/>
            <a:ext cx="19050" cy="398264"/>
          </a:xfrm>
          <a:custGeom>
            <a:avLst/>
            <a:gdLst/>
            <a:ahLst/>
            <a:cxnLst/>
            <a:rect l="l" t="t" r="r" b="b"/>
            <a:pathLst>
              <a:path w="19050" h="39826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5588"/>
                </a:lnTo>
                <a:lnTo>
                  <a:pt x="16669" y="372895"/>
                </a:lnTo>
                <a:lnTo>
                  <a:pt x="14288" y="369901"/>
                </a:lnTo>
                <a:lnTo>
                  <a:pt x="11906" y="366537"/>
                </a:lnTo>
                <a:lnTo>
                  <a:pt x="9525" y="362698"/>
                </a:lnTo>
                <a:lnTo>
                  <a:pt x="7144" y="358210"/>
                </a:lnTo>
                <a:lnTo>
                  <a:pt x="4763" y="352732"/>
                </a:lnTo>
                <a:lnTo>
                  <a:pt x="2381" y="345393"/>
                </a:lnTo>
                <a:lnTo>
                  <a:pt x="0" y="327144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59"/>
          <p:cNvSpPr/>
          <p:nvPr/>
        </p:nvSpPr>
        <p:spPr>
          <a:xfrm>
            <a:off x="4615011" y="231234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9863" y="2367195"/>
            <a:ext cx="132588" cy="132588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4943773" y="2312343"/>
            <a:ext cx="41222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790" dirty="0"/>
          </a:p>
        </p:txBody>
      </p:sp>
      <p:sp>
        <p:nvSpPr>
          <p:cNvPr id="79" name="Text 61"/>
          <p:cNvSpPr/>
          <p:nvPr/>
        </p:nvSpPr>
        <p:spPr>
          <a:xfrm>
            <a:off x="4943773" y="2446437"/>
            <a:ext cx="41222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search with natural language understanding</a:t>
            </a:r>
            <a:endParaRPr lang="en-US" sz="650" dirty="0"/>
          </a:p>
        </p:txBody>
      </p:sp>
      <p:sp>
        <p:nvSpPr>
          <p:cNvPr id="80" name="Text 62"/>
          <p:cNvSpPr/>
          <p:nvPr/>
        </p:nvSpPr>
        <p:spPr>
          <a:xfrm>
            <a:off x="4495651" y="2707332"/>
            <a:ext cx="4305449" cy="398264"/>
          </a:xfrm>
          <a:prstGeom prst="roundRect">
            <a:avLst>
              <a:gd name="adj" fmla="val 17858"/>
            </a:avLst>
          </a:prstGeom>
          <a:solidFill>
            <a:srgbClr val="0D1F3A"/>
          </a:solidFill>
          <a:ln/>
          <a:effectLst>
            <a:outerShdw blurRad="86360" dist="50800" dir="16200000" algn="bl" rotWithShape="0">
              <a:srgbClr val="00C9FF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3"/>
          <p:cNvSpPr/>
          <p:nvPr/>
        </p:nvSpPr>
        <p:spPr>
          <a:xfrm>
            <a:off x="4495651" y="2707332"/>
            <a:ext cx="19050" cy="398264"/>
          </a:xfrm>
          <a:custGeom>
            <a:avLst/>
            <a:gdLst/>
            <a:ahLst/>
            <a:cxnLst/>
            <a:rect l="l" t="t" r="r" b="b"/>
            <a:pathLst>
              <a:path w="19050" h="39826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5588"/>
                </a:lnTo>
                <a:lnTo>
                  <a:pt x="16669" y="372895"/>
                </a:lnTo>
                <a:lnTo>
                  <a:pt x="14288" y="369901"/>
                </a:lnTo>
                <a:lnTo>
                  <a:pt x="11906" y="366537"/>
                </a:lnTo>
                <a:lnTo>
                  <a:pt x="9525" y="362698"/>
                </a:lnTo>
                <a:lnTo>
                  <a:pt x="7144" y="358210"/>
                </a:lnTo>
                <a:lnTo>
                  <a:pt x="4763" y="352732"/>
                </a:lnTo>
                <a:lnTo>
                  <a:pt x="2381" y="345393"/>
                </a:lnTo>
                <a:lnTo>
                  <a:pt x="0" y="327144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64"/>
          <p:cNvSpPr/>
          <p:nvPr/>
        </p:nvSpPr>
        <p:spPr>
          <a:xfrm>
            <a:off x="4615011" y="27815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69863" y="2836450"/>
            <a:ext cx="132588" cy="132588"/>
          </a:xfrm>
          <a:prstGeom prst="rect">
            <a:avLst/>
          </a:prstGeom>
        </p:spPr>
      </p:pic>
      <p:sp>
        <p:nvSpPr>
          <p:cNvPr id="84" name="Text 65"/>
          <p:cNvSpPr/>
          <p:nvPr/>
        </p:nvSpPr>
        <p:spPr>
          <a:xfrm>
            <a:off x="4943773" y="2781598"/>
            <a:ext cx="41222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AI Responses</a:t>
            </a:r>
            <a:endParaRPr lang="en-US" sz="790" dirty="0"/>
          </a:p>
        </p:txBody>
      </p:sp>
      <p:sp>
        <p:nvSpPr>
          <p:cNvPr id="85" name="Text 66"/>
          <p:cNvSpPr/>
          <p:nvPr/>
        </p:nvSpPr>
        <p:spPr>
          <a:xfrm>
            <a:off x="4943773" y="2915692"/>
            <a:ext cx="41222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for real-time LLM output rendering</a:t>
            </a:r>
            <a:endParaRPr lang="en-US" sz="650" dirty="0"/>
          </a:p>
        </p:txBody>
      </p:sp>
      <p:sp>
        <p:nvSpPr>
          <p:cNvPr id="86" name="Text 67"/>
          <p:cNvSpPr/>
          <p:nvPr/>
        </p:nvSpPr>
        <p:spPr>
          <a:xfrm>
            <a:off x="4495651" y="3176588"/>
            <a:ext cx="4305449" cy="398264"/>
          </a:xfrm>
          <a:prstGeom prst="roundRect">
            <a:avLst>
              <a:gd name="adj" fmla="val 17858"/>
            </a:avLst>
          </a:prstGeom>
          <a:solidFill>
            <a:srgbClr val="0D1F3A"/>
          </a:solidFill>
          <a:ln/>
          <a:effectLst>
            <a:outerShdw blurRad="86360" dist="50800" dir="16200000" algn="bl" rotWithShape="0">
              <a:srgbClr val="00C9FF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68"/>
          <p:cNvSpPr/>
          <p:nvPr/>
        </p:nvSpPr>
        <p:spPr>
          <a:xfrm>
            <a:off x="4495651" y="3176588"/>
            <a:ext cx="19050" cy="398264"/>
          </a:xfrm>
          <a:custGeom>
            <a:avLst/>
            <a:gdLst/>
            <a:ahLst/>
            <a:cxnLst/>
            <a:rect l="l" t="t" r="r" b="b"/>
            <a:pathLst>
              <a:path w="19050" h="39826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5588"/>
                </a:lnTo>
                <a:lnTo>
                  <a:pt x="16669" y="372895"/>
                </a:lnTo>
                <a:lnTo>
                  <a:pt x="14288" y="369901"/>
                </a:lnTo>
                <a:lnTo>
                  <a:pt x="11906" y="366537"/>
                </a:lnTo>
                <a:lnTo>
                  <a:pt x="9525" y="362698"/>
                </a:lnTo>
                <a:lnTo>
                  <a:pt x="7144" y="358210"/>
                </a:lnTo>
                <a:lnTo>
                  <a:pt x="4763" y="352732"/>
                </a:lnTo>
                <a:lnTo>
                  <a:pt x="2381" y="345393"/>
                </a:lnTo>
                <a:lnTo>
                  <a:pt x="0" y="327144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69"/>
          <p:cNvSpPr/>
          <p:nvPr/>
        </p:nvSpPr>
        <p:spPr>
          <a:xfrm>
            <a:off x="4615011" y="325085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69863" y="3305705"/>
            <a:ext cx="132588" cy="132588"/>
          </a:xfrm>
          <a:prstGeom prst="rect">
            <a:avLst/>
          </a:prstGeom>
        </p:spPr>
      </p:pic>
      <p:sp>
        <p:nvSpPr>
          <p:cNvPr id="90" name="Text 70"/>
          <p:cNvSpPr/>
          <p:nvPr/>
        </p:nvSpPr>
        <p:spPr>
          <a:xfrm>
            <a:off x="4943773" y="3250853"/>
            <a:ext cx="41222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Engine</a:t>
            </a:r>
            <a:endParaRPr lang="en-US" sz="790" dirty="0"/>
          </a:p>
        </p:txBody>
      </p:sp>
      <p:sp>
        <p:nvSpPr>
          <p:cNvPr id="91" name="Text 71"/>
          <p:cNvSpPr/>
          <p:nvPr/>
        </p:nvSpPr>
        <p:spPr>
          <a:xfrm>
            <a:off x="4943773" y="3384947"/>
            <a:ext cx="41222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adapts to user behavior, role, and context</a:t>
            </a:r>
            <a:endParaRPr lang="en-US" sz="650" dirty="0"/>
          </a:p>
        </p:txBody>
      </p:sp>
      <p:sp>
        <p:nvSpPr>
          <p:cNvPr id="92" name="Text 72"/>
          <p:cNvSpPr/>
          <p:nvPr/>
        </p:nvSpPr>
        <p:spPr>
          <a:xfrm>
            <a:off x="4495651" y="3675013"/>
            <a:ext cx="570905" cy="185812"/>
          </a:xfrm>
          <a:prstGeom prst="roundRect">
            <a:avLst>
              <a:gd name="adj" fmla="val 19138"/>
            </a:avLst>
          </a:prstGeom>
          <a:solidFill>
            <a:srgbClr val="DD0031">
              <a:alpha val="10000"/>
            </a:srgbClr>
          </a:solidFill>
          <a:ln w="9525">
            <a:solidFill>
              <a:srgbClr val="DD0031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560" dirty="0"/>
          </a:p>
        </p:txBody>
      </p:sp>
      <p:sp>
        <p:nvSpPr>
          <p:cNvPr id="93" name="Text 73"/>
          <p:cNvSpPr/>
          <p:nvPr/>
        </p:nvSpPr>
        <p:spPr>
          <a:xfrm>
            <a:off x="5115967" y="3675013"/>
            <a:ext cx="750243" cy="185812"/>
          </a:xfrm>
          <a:prstGeom prst="roundRect">
            <a:avLst>
              <a:gd name="adj" fmla="val 1913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 WebSocket</a:t>
            </a:r>
            <a:endParaRPr lang="en-US" sz="560" dirty="0"/>
          </a:p>
        </p:txBody>
      </p:sp>
      <p:sp>
        <p:nvSpPr>
          <p:cNvPr id="94" name="Text 74"/>
          <p:cNvSpPr/>
          <p:nvPr/>
        </p:nvSpPr>
        <p:spPr>
          <a:xfrm>
            <a:off x="5915620" y="3675013"/>
            <a:ext cx="677317" cy="185812"/>
          </a:xfrm>
          <a:prstGeom prst="roundRect">
            <a:avLst>
              <a:gd name="adj" fmla="val 1913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+ Signals</a:t>
            </a:r>
            <a:endParaRPr lang="en-US" sz="560" dirty="0"/>
          </a:p>
        </p:txBody>
      </p:sp>
      <p:sp>
        <p:nvSpPr>
          <p:cNvPr id="95" name="Text 75"/>
          <p:cNvSpPr/>
          <p:nvPr/>
        </p:nvSpPr>
        <p:spPr>
          <a:xfrm>
            <a:off x="6642348" y="3675013"/>
            <a:ext cx="638621" cy="185812"/>
          </a:xfrm>
          <a:prstGeom prst="roundRect">
            <a:avLst>
              <a:gd name="adj" fmla="val 19138"/>
            </a:avLst>
          </a:prstGeom>
          <a:solidFill>
            <a:srgbClr val="64B464">
              <a:alpha val="10000"/>
            </a:srgbClr>
          </a:solidFill>
          <a:ln w="9525">
            <a:solidFill>
              <a:srgbClr val="64B46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alphaModFix amt="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7158" y="1178719"/>
            <a:ext cx="2356842" cy="27860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3794" y="1435298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62375" y="1435298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10957" y="1435298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259539" y="1435298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71390" y="0"/>
            <a:ext cx="5001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9220" y="228600"/>
            <a:ext cx="8865549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 APIs: Spring Boot as the AI Gateway</a:t>
            </a:r>
            <a:endParaRPr lang="en-US" sz="1910" dirty="0"/>
          </a:p>
        </p:txBody>
      </p:sp>
      <p:sp>
        <p:nvSpPr>
          <p:cNvPr id="11" name="Text 8"/>
          <p:cNvSpPr/>
          <p:nvPr/>
        </p:nvSpPr>
        <p:spPr>
          <a:xfrm>
            <a:off x="429220" y="536674"/>
            <a:ext cx="91141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230"/>
              </a:spcBef>
              <a:buNone/>
            </a:pPr>
            <a:r>
              <a:rPr lang="en-US" sz="900" i="1" kern="0" spc="2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Orchestrating intelligence at the backend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220" y="765274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14920" y="914995"/>
            <a:ext cx="1519833" cy="1097905"/>
          </a:xfrm>
          <a:prstGeom prst="roundRect">
            <a:avLst>
              <a:gd name="adj" fmla="val 9138"/>
            </a:avLst>
          </a:prstGeom>
          <a:solidFill>
            <a:srgbClr val="0D1F3A"/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53542" y="1038820"/>
            <a:ext cx="242441" cy="266685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0077AA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334" y="1338411"/>
            <a:ext cx="139005" cy="1390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3472" y="1520577"/>
            <a:ext cx="64272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Gateway</a:t>
            </a:r>
            <a:endParaRPr lang="en-US" sz="760" dirty="0"/>
          </a:p>
        </p:txBody>
      </p:sp>
      <p:sp>
        <p:nvSpPr>
          <p:cNvPr id="17" name="Text 13"/>
          <p:cNvSpPr/>
          <p:nvPr/>
        </p:nvSpPr>
        <p:spPr>
          <a:xfrm>
            <a:off x="411754" y="1671786"/>
            <a:ext cx="1326166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with rate limiting &amp; auth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1834753" y="1457027"/>
            <a:ext cx="228600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C9FF">
                  <a:alpha val="8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848743" y="1435298"/>
            <a:ext cx="200620" cy="5715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063353" y="914995"/>
            <a:ext cx="1519982" cy="1097905"/>
          </a:xfrm>
          <a:prstGeom prst="roundRect">
            <a:avLst>
              <a:gd name="adj" fmla="val 9138"/>
            </a:avLst>
          </a:prstGeom>
          <a:solidFill>
            <a:srgbClr val="0D1F3A"/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702123" y="1038820"/>
            <a:ext cx="242441" cy="266685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0077AA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3767" y="1338411"/>
            <a:ext cx="139005" cy="1390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407607" y="1520577"/>
            <a:ext cx="831324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Orchestration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2137648" y="1671786"/>
            <a:ext cx="137124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routing to LLM providers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3583335" y="1457027"/>
            <a:ext cx="228600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C9FF">
                  <a:alpha val="8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597325" y="1435298"/>
            <a:ext cx="200620" cy="5715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811935" y="914995"/>
            <a:ext cx="1519982" cy="1097905"/>
          </a:xfrm>
          <a:prstGeom prst="roundRect">
            <a:avLst>
              <a:gd name="adj" fmla="val 9138"/>
            </a:avLst>
          </a:prstGeom>
          <a:solidFill>
            <a:srgbClr val="0D1F3A"/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450705" y="1038820"/>
            <a:ext cx="242441" cy="266685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0077AA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2348" y="1338411"/>
            <a:ext cx="139005" cy="1390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235909" y="1520577"/>
            <a:ext cx="67203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Pipeline</a:t>
            </a:r>
            <a:endParaRPr lang="en-US" sz="760" dirty="0"/>
          </a:p>
        </p:txBody>
      </p:sp>
      <p:sp>
        <p:nvSpPr>
          <p:cNvPr id="31" name="Text 25"/>
          <p:cNvSpPr/>
          <p:nvPr/>
        </p:nvSpPr>
        <p:spPr>
          <a:xfrm>
            <a:off x="3908767" y="1671786"/>
            <a:ext cx="1326318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with vector store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5331916" y="1457027"/>
            <a:ext cx="228600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C9FF">
                  <a:alpha val="8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345906" y="1435298"/>
            <a:ext cx="200620" cy="5715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560516" y="914995"/>
            <a:ext cx="1519982" cy="1097905"/>
          </a:xfrm>
          <a:prstGeom prst="roundRect">
            <a:avLst>
              <a:gd name="adj" fmla="val 9138"/>
            </a:avLst>
          </a:prstGeom>
          <a:solidFill>
            <a:srgbClr val="0D1F3A"/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6199287" y="1038820"/>
            <a:ext cx="242441" cy="266685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0077AA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0930" y="1338411"/>
            <a:ext cx="139005" cy="13900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994157" y="1520577"/>
            <a:ext cx="65255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Inference</a:t>
            </a:r>
            <a:endParaRPr lang="en-US" sz="760" dirty="0"/>
          </a:p>
        </p:txBody>
      </p:sp>
      <p:sp>
        <p:nvSpPr>
          <p:cNvPr id="38" name="Text 31"/>
          <p:cNvSpPr/>
          <p:nvPr/>
        </p:nvSpPr>
        <p:spPr>
          <a:xfrm>
            <a:off x="5657348" y="1671786"/>
            <a:ext cx="1326318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model serving with Spring + ONNX</a:t>
            </a:r>
            <a:endParaRPr lang="en-US" sz="650" dirty="0"/>
          </a:p>
        </p:txBody>
      </p:sp>
      <p:sp>
        <p:nvSpPr>
          <p:cNvPr id="39" name="Text 32"/>
          <p:cNvSpPr/>
          <p:nvPr/>
        </p:nvSpPr>
        <p:spPr>
          <a:xfrm>
            <a:off x="7080498" y="1457027"/>
            <a:ext cx="228600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50000"/>
                </a:srgbClr>
              </a:gs>
              <a:gs pos="100000">
                <a:srgbClr val="00C9FF">
                  <a:alpha val="8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7094488" y="1435298"/>
            <a:ext cx="200620" cy="5715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7309098" y="914995"/>
            <a:ext cx="1519982" cy="1097905"/>
          </a:xfrm>
          <a:prstGeom prst="roundRect">
            <a:avLst>
              <a:gd name="adj" fmla="val 9138"/>
            </a:avLst>
          </a:prstGeom>
          <a:solidFill>
            <a:srgbClr val="0D1F3A"/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7947868" y="1038820"/>
            <a:ext cx="242441" cy="266685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0077AA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9512" y="1338411"/>
            <a:ext cx="139005" cy="13900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552172" y="1520577"/>
            <a:ext cx="103383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Assembly</a:t>
            </a:r>
            <a:endParaRPr lang="en-US" sz="760" dirty="0"/>
          </a:p>
        </p:txBody>
      </p:sp>
      <p:sp>
        <p:nvSpPr>
          <p:cNvPr id="45" name="Text 37"/>
          <p:cNvSpPr/>
          <p:nvPr/>
        </p:nvSpPr>
        <p:spPr>
          <a:xfrm>
            <a:off x="7431353" y="1671786"/>
            <a:ext cx="1275472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with audit trail</a:t>
            </a:r>
            <a:endParaRPr lang="en-US" sz="650" dirty="0"/>
          </a:p>
        </p:txBody>
      </p:sp>
      <p:sp>
        <p:nvSpPr>
          <p:cNvPr id="46" name="Text 38"/>
          <p:cNvSpPr/>
          <p:nvPr/>
        </p:nvSpPr>
        <p:spPr>
          <a:xfrm>
            <a:off x="314920" y="2113211"/>
            <a:ext cx="8514159" cy="721668"/>
          </a:xfrm>
          <a:prstGeom prst="roundRect">
            <a:avLst>
              <a:gd name="adj" fmla="val 13902"/>
            </a:avLst>
          </a:prstGeom>
          <a:gradFill rotWithShape="1">
            <a:gsLst>
              <a:gs pos="0">
                <a:srgbClr val="00C9FF">
                  <a:alpha val="7000"/>
                </a:srgbClr>
              </a:gs>
              <a:gs pos="100000">
                <a:srgbClr val="0077AA">
                  <a:alpha val="5000"/>
                </a:srgbClr>
              </a:gs>
            </a:gsLst>
            <a:lin ang="2700000" scaled="1"/>
          </a:gradFill>
          <a:ln w="9525">
            <a:solidFill>
              <a:srgbClr val="00C9FF">
                <a:alpha val="25000"/>
              </a:srgbClr>
            </a:solidFill>
          </a:ln>
          <a:effectLst>
            <a:outerShdw blurRad="171450" dist="50800" dir="16200000" algn="bl" rotWithShape="0">
              <a:srgbClr val="00C9FF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10791" y="2223046"/>
            <a:ext cx="15139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8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AI CAPABILITIES</a:t>
            </a:r>
            <a:endParaRPr lang="en-US" sz="73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484" y="2226254"/>
            <a:ext cx="132588" cy="13258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67916" y="2433042"/>
            <a:ext cx="1998762" cy="292001"/>
          </a:xfrm>
          <a:prstGeom prst="roundRect">
            <a:avLst>
              <a:gd name="adj" fmla="val 24356"/>
            </a:avLst>
          </a:prstGeom>
          <a:solidFill>
            <a:srgbClr val="0D1F3A">
              <a:alpha val="9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71120" dist="1397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268" y="2512674"/>
            <a:ext cx="132588" cy="13258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42355" y="2521297"/>
            <a:ext cx="133047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Gemini Connectors</a:t>
            </a:r>
            <a:endParaRPr lang="en-US" sz="700" dirty="0"/>
          </a:p>
        </p:txBody>
      </p:sp>
      <p:sp>
        <p:nvSpPr>
          <p:cNvPr id="52" name="Text 42"/>
          <p:cNvSpPr/>
          <p:nvPr/>
        </p:nvSpPr>
        <p:spPr>
          <a:xfrm>
            <a:off x="2537668" y="2433042"/>
            <a:ext cx="1998762" cy="292001"/>
          </a:xfrm>
          <a:prstGeom prst="roundRect">
            <a:avLst>
              <a:gd name="adj" fmla="val 24356"/>
            </a:avLst>
          </a:prstGeom>
          <a:solidFill>
            <a:srgbClr val="0D1F3A">
              <a:alpha val="9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71120" dist="1397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21021" y="2512674"/>
            <a:ext cx="132588" cy="13258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2812107" y="2521297"/>
            <a:ext cx="138843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&amp; Chaining</a:t>
            </a:r>
            <a:endParaRPr lang="en-US" sz="700" dirty="0"/>
          </a:p>
        </p:txBody>
      </p:sp>
      <p:sp>
        <p:nvSpPr>
          <p:cNvPr id="55" name="Text 44"/>
          <p:cNvSpPr/>
          <p:nvPr/>
        </p:nvSpPr>
        <p:spPr>
          <a:xfrm>
            <a:off x="4607421" y="2433042"/>
            <a:ext cx="1998762" cy="292001"/>
          </a:xfrm>
          <a:prstGeom prst="roundRect">
            <a:avLst>
              <a:gd name="adj" fmla="val 24356"/>
            </a:avLst>
          </a:prstGeom>
          <a:solidFill>
            <a:srgbClr val="0D1F3A">
              <a:alpha val="9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71120" dist="1397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0774" y="2512674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881860" y="2521297"/>
            <a:ext cx="110799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Integration</a:t>
            </a:r>
            <a:endParaRPr lang="en-US" sz="700" dirty="0"/>
          </a:p>
        </p:txBody>
      </p:sp>
      <p:sp>
        <p:nvSpPr>
          <p:cNvPr id="58" name="Text 46"/>
          <p:cNvSpPr/>
          <p:nvPr/>
        </p:nvSpPr>
        <p:spPr>
          <a:xfrm>
            <a:off x="6677174" y="2433042"/>
            <a:ext cx="1998911" cy="292001"/>
          </a:xfrm>
          <a:prstGeom prst="roundRect">
            <a:avLst>
              <a:gd name="adj" fmla="val 24356"/>
            </a:avLst>
          </a:prstGeom>
          <a:solidFill>
            <a:srgbClr val="0D1F3A">
              <a:alpha val="90000"/>
            </a:srgbClr>
          </a:solidFill>
          <a:ln w="9525">
            <a:solidFill>
              <a:srgbClr val="00C9FF">
                <a:alpha val="20000"/>
              </a:srgbClr>
            </a:solidFill>
          </a:ln>
          <a:effectLst>
            <a:outerShdw blurRad="71120" dist="1397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0527" y="2512674"/>
            <a:ext cx="132588" cy="13258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6951613" y="2521297"/>
            <a:ext cx="12271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 Support</a:t>
            </a:r>
            <a:endParaRPr lang="en-US" sz="700" dirty="0"/>
          </a:p>
        </p:txBody>
      </p:sp>
      <p:sp>
        <p:nvSpPr>
          <p:cNvPr id="61" name="Text 48"/>
          <p:cNvSpPr/>
          <p:nvPr/>
        </p:nvSpPr>
        <p:spPr>
          <a:xfrm>
            <a:off x="7556302" y="200620"/>
            <a:ext cx="1225671" cy="207913"/>
          </a:xfrm>
          <a:prstGeom prst="roundRect">
            <a:avLst>
              <a:gd name="adj" fmla="val 69024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9575" y="2911673"/>
            <a:ext cx="8324850" cy="616595"/>
          </a:xfrm>
          <a:prstGeom prst="roundRect">
            <a:avLst>
              <a:gd name="adj" fmla="val 14006"/>
            </a:avLst>
          </a:prstGeom>
          <a:gradFill rotWithShape="1">
            <a:gsLst>
              <a:gs pos="0">
                <a:srgbClr val="00C9FF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9575" y="3596729"/>
            <a:ext cx="8324850" cy="616595"/>
          </a:xfrm>
          <a:prstGeom prst="roundRect">
            <a:avLst>
              <a:gd name="adj" fmla="val 14006"/>
            </a:avLst>
          </a:prstGeom>
          <a:gradFill rotWithShape="1">
            <a:gsLst>
              <a:gs pos="0">
                <a:srgbClr val="00C9FF">
                  <a:alpha val="7000"/>
                </a:srgbClr>
              </a:gs>
              <a:gs pos="55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0050" y="216396"/>
            <a:ext cx="257770" cy="257770"/>
          </a:xfrm>
          <a:prstGeom prst="ellipse">
            <a:avLst/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41" y="278987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141" y="200620"/>
            <a:ext cx="5790347" cy="2894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52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Integrating LLMs and Vision Models into Enterprise Systems</a:t>
            </a:r>
            <a:endParaRPr lang="en-US" sz="1520" dirty="0"/>
          </a:p>
        </p:txBody>
      </p:sp>
      <p:sp>
        <p:nvSpPr>
          <p:cNvPr id="8" name="Text 4"/>
          <p:cNvSpPr/>
          <p:nvPr/>
        </p:nvSpPr>
        <p:spPr>
          <a:xfrm>
            <a:off x="400050" y="589955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86420" y="525512"/>
            <a:ext cx="29356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scale and govern AI — from language to vision</a:t>
            </a:r>
            <a:endParaRPr lang="en-US" sz="790" dirty="0"/>
          </a:p>
        </p:txBody>
      </p:sp>
      <p:sp>
        <p:nvSpPr>
          <p:cNvPr id="10" name="Text 6"/>
          <p:cNvSpPr/>
          <p:nvPr/>
        </p:nvSpPr>
        <p:spPr>
          <a:xfrm>
            <a:off x="6460927" y="793403"/>
            <a:ext cx="58968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560" dirty="0"/>
          </a:p>
        </p:txBody>
      </p:sp>
      <p:sp>
        <p:nvSpPr>
          <p:cNvPr id="11" name="Text 7"/>
          <p:cNvSpPr/>
          <p:nvPr/>
        </p:nvSpPr>
        <p:spPr>
          <a:xfrm>
            <a:off x="7040166" y="762298"/>
            <a:ext cx="343793" cy="185812"/>
          </a:xfrm>
          <a:prstGeom prst="roundRect">
            <a:avLst>
              <a:gd name="adj" fmla="val 7723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7119" y="825252"/>
            <a:ext cx="171450" cy="428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41729" y="762298"/>
            <a:ext cx="483096" cy="185812"/>
          </a:xfrm>
          <a:prstGeom prst="roundRect">
            <a:avLst>
              <a:gd name="adj" fmla="val 77234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56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7985" y="825252"/>
            <a:ext cx="171450" cy="428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82595" y="762298"/>
            <a:ext cx="361355" cy="185812"/>
          </a:xfrm>
          <a:prstGeom prst="roundRect">
            <a:avLst>
              <a:gd name="adj" fmla="val 77234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16" name="Text 10"/>
          <p:cNvSpPr/>
          <p:nvPr/>
        </p:nvSpPr>
        <p:spPr>
          <a:xfrm>
            <a:off x="400050" y="1002209"/>
            <a:ext cx="1871663" cy="1670149"/>
          </a:xfrm>
          <a:prstGeom prst="roundRect">
            <a:avLst>
              <a:gd name="adj" fmla="val 5171"/>
            </a:avLst>
          </a:prstGeom>
          <a:solidFill>
            <a:srgbClr val="0D1F3A"/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523875" y="1112044"/>
            <a:ext cx="185291" cy="203820"/>
          </a:xfrm>
          <a:prstGeom prst="ellipse">
            <a:avLst/>
          </a:prstGeom>
          <a:solidFill>
            <a:srgbClr val="00C9FF">
              <a:alpha val="8000"/>
            </a:srgbClr>
          </a:solidFill>
          <a:ln w="9525">
            <a:solidFill>
              <a:srgbClr val="00C9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18" name="Text 12"/>
          <p:cNvSpPr/>
          <p:nvPr/>
        </p:nvSpPr>
        <p:spPr>
          <a:xfrm>
            <a:off x="766316" y="1149102"/>
            <a:ext cx="79792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LLM Calls</a:t>
            </a:r>
            <a:endParaRPr lang="en-US" sz="730" dirty="0"/>
          </a:p>
        </p:txBody>
      </p:sp>
      <p:sp>
        <p:nvSpPr>
          <p:cNvPr id="19" name="Text 13"/>
          <p:cNvSpPr/>
          <p:nvPr/>
        </p:nvSpPr>
        <p:spPr>
          <a:xfrm>
            <a:off x="1186011" y="135448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9513" y="1437986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3875" y="1711226"/>
            <a:ext cx="1656493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560"/>
              </a:spcAft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prompt-response via API. Rapid integration with minimal setup — ideal for rapid prototyping &amp; demos.</a:t>
            </a:r>
            <a:endParaRPr lang="en-US" sz="650" dirty="0"/>
          </a:p>
        </p:txBody>
      </p:sp>
      <p:sp>
        <p:nvSpPr>
          <p:cNvPr id="22" name="Text 15"/>
          <p:cNvSpPr/>
          <p:nvPr/>
        </p:nvSpPr>
        <p:spPr>
          <a:xfrm>
            <a:off x="523875" y="2153692"/>
            <a:ext cx="484584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560" dirty="0"/>
          </a:p>
        </p:txBody>
      </p:sp>
      <p:sp>
        <p:nvSpPr>
          <p:cNvPr id="23" name="Text 16"/>
          <p:cNvSpPr/>
          <p:nvPr/>
        </p:nvSpPr>
        <p:spPr>
          <a:xfrm>
            <a:off x="1043880" y="2153692"/>
            <a:ext cx="585936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560" dirty="0"/>
          </a:p>
        </p:txBody>
      </p:sp>
      <p:sp>
        <p:nvSpPr>
          <p:cNvPr id="24" name="Text 17"/>
          <p:cNvSpPr/>
          <p:nvPr/>
        </p:nvSpPr>
        <p:spPr>
          <a:xfrm>
            <a:off x="523875" y="2393603"/>
            <a:ext cx="343793" cy="185812"/>
          </a:xfrm>
          <a:prstGeom prst="roundRect">
            <a:avLst>
              <a:gd name="adj" fmla="val 7723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25" name="Text 18"/>
          <p:cNvSpPr/>
          <p:nvPr/>
        </p:nvSpPr>
        <p:spPr>
          <a:xfrm>
            <a:off x="1173510" y="2488853"/>
            <a:ext cx="97437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1173510" y="2488853"/>
            <a:ext cx="214313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4D399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7431" y="1374279"/>
            <a:ext cx="214313" cy="857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557463" y="1002209"/>
            <a:ext cx="1871663" cy="1656159"/>
          </a:xfrm>
          <a:prstGeom prst="roundRect">
            <a:avLst>
              <a:gd name="adj" fmla="val 5214"/>
            </a:avLst>
          </a:prstGeom>
          <a:gradFill rotWithShape="1">
            <a:gsLst>
              <a:gs pos="0">
                <a:srgbClr val="0D2040"/>
              </a:gs>
              <a:gs pos="100000">
                <a:srgbClr val="0A1E38"/>
              </a:gs>
            </a:gsLst>
            <a:lin ang="2700000" scaled="1"/>
          </a:gradFill>
          <a:ln w="9525">
            <a:solidFill>
              <a:srgbClr val="00C9FF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2872606" y="940743"/>
            <a:ext cx="1266203" cy="124718"/>
          </a:xfrm>
          <a:prstGeom prst="roundRect">
            <a:avLst>
              <a:gd name="adj" fmla="val 115068"/>
            </a:avLst>
          </a:prstGeom>
          <a:solidFill>
            <a:srgbClr val="00C9FF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ENTERPRISE SWEET SPOT</a:t>
            </a:r>
            <a:endParaRPr lang="en-US" sz="510" dirty="0"/>
          </a:p>
        </p:txBody>
      </p:sp>
      <p:sp>
        <p:nvSpPr>
          <p:cNvPr id="30" name="Text 22"/>
          <p:cNvSpPr/>
          <p:nvPr/>
        </p:nvSpPr>
        <p:spPr>
          <a:xfrm>
            <a:off x="2681288" y="1141214"/>
            <a:ext cx="185291" cy="203820"/>
          </a:xfrm>
          <a:prstGeom prst="ellipse">
            <a:avLst/>
          </a:prstGeom>
          <a:solidFill>
            <a:srgbClr val="00C9FF"/>
          </a:solidFill>
          <a:ln w="9525">
            <a:solidFill>
              <a:srgbClr val="00C9FF"/>
            </a:solidFill>
          </a:ln>
          <a:effectLst>
            <a:outerShdw blurRad="7112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31" name="Text 23"/>
          <p:cNvSpPr/>
          <p:nvPr/>
        </p:nvSpPr>
        <p:spPr>
          <a:xfrm>
            <a:off x="2923729" y="1178272"/>
            <a:ext cx="85064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Architecture</a:t>
            </a:r>
            <a:endParaRPr lang="en-US" sz="730" dirty="0"/>
          </a:p>
        </p:txBody>
      </p:sp>
      <p:sp>
        <p:nvSpPr>
          <p:cNvPr id="32" name="Text 24"/>
          <p:cNvSpPr/>
          <p:nvPr/>
        </p:nvSpPr>
        <p:spPr>
          <a:xfrm>
            <a:off x="3343424" y="138365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45000"/>
              </a:srgbClr>
            </a:solidFill>
          </a:ln>
          <a:effectLst>
            <a:outerShdw blurRad="86360" dist="50800" dir="16200000" algn="bl" rotWithShape="0">
              <a:srgbClr val="00C9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6925" y="1467157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681288" y="1740396"/>
            <a:ext cx="1656493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450"/>
              </a:spcAft>
              <a:buNone/>
            </a:pPr>
            <a:r>
              <a:rPr lang="en-US" sz="6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with enterprise document stores &amp; vector DBs for domain-aware accuracy.</a:t>
            </a:r>
            <a:endParaRPr lang="en-US" sz="650" dirty="0"/>
          </a:p>
        </p:txBody>
      </p:sp>
      <p:sp>
        <p:nvSpPr>
          <p:cNvPr id="35" name="Text 26"/>
          <p:cNvSpPr/>
          <p:nvPr/>
        </p:nvSpPr>
        <p:spPr>
          <a:xfrm>
            <a:off x="2681288" y="2169021"/>
            <a:ext cx="437555" cy="168786"/>
          </a:xfrm>
          <a:prstGeom prst="roundRect">
            <a:avLst>
              <a:gd name="adj" fmla="val 42136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560" dirty="0"/>
          </a:p>
        </p:txBody>
      </p:sp>
      <p:sp>
        <p:nvSpPr>
          <p:cNvPr id="36" name="Text 27"/>
          <p:cNvSpPr/>
          <p:nvPr/>
        </p:nvSpPr>
        <p:spPr>
          <a:xfrm>
            <a:off x="3148013" y="2169021"/>
            <a:ext cx="386209" cy="168786"/>
          </a:xfrm>
          <a:prstGeom prst="roundRect">
            <a:avLst>
              <a:gd name="adj" fmla="val 42136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560" dirty="0"/>
          </a:p>
        </p:txBody>
      </p:sp>
      <p:sp>
        <p:nvSpPr>
          <p:cNvPr id="37" name="Text 28"/>
          <p:cNvSpPr/>
          <p:nvPr/>
        </p:nvSpPr>
        <p:spPr>
          <a:xfrm>
            <a:off x="3563392" y="2169021"/>
            <a:ext cx="433536" cy="168786"/>
          </a:xfrm>
          <a:prstGeom prst="roundRect">
            <a:avLst>
              <a:gd name="adj" fmla="val 42136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560" dirty="0"/>
          </a:p>
        </p:txBody>
      </p:sp>
      <p:sp>
        <p:nvSpPr>
          <p:cNvPr id="38" name="Text 29"/>
          <p:cNvSpPr/>
          <p:nvPr/>
        </p:nvSpPr>
        <p:spPr>
          <a:xfrm>
            <a:off x="2681288" y="2379613"/>
            <a:ext cx="483096" cy="185812"/>
          </a:xfrm>
          <a:prstGeom prst="roundRect">
            <a:avLst>
              <a:gd name="adj" fmla="val 77234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560" dirty="0"/>
          </a:p>
        </p:txBody>
      </p:sp>
      <p:sp>
        <p:nvSpPr>
          <p:cNvPr id="39" name="Text 30"/>
          <p:cNvSpPr/>
          <p:nvPr/>
        </p:nvSpPr>
        <p:spPr>
          <a:xfrm>
            <a:off x="3412182" y="2474863"/>
            <a:ext cx="89311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3412182" y="2474863"/>
            <a:ext cx="464344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64844" y="1374279"/>
            <a:ext cx="214313" cy="857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714875" y="1002209"/>
            <a:ext cx="1871663" cy="1670149"/>
          </a:xfrm>
          <a:prstGeom prst="roundRect">
            <a:avLst>
              <a:gd name="adj" fmla="val 5171"/>
            </a:avLst>
          </a:prstGeom>
          <a:solidFill>
            <a:srgbClr val="0D1F3A"/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4838700" y="1112044"/>
            <a:ext cx="185291" cy="203820"/>
          </a:xfrm>
          <a:prstGeom prst="ellipse">
            <a:avLst/>
          </a:prstGeom>
          <a:solidFill>
            <a:srgbClr val="00C9FF">
              <a:alpha val="8000"/>
            </a:srgbClr>
          </a:solidFill>
          <a:ln w="9525">
            <a:solidFill>
              <a:srgbClr val="00C9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44" name="Text 34"/>
          <p:cNvSpPr/>
          <p:nvPr/>
        </p:nvSpPr>
        <p:spPr>
          <a:xfrm>
            <a:off x="5081141" y="1149102"/>
            <a:ext cx="90532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Orchestration</a:t>
            </a:r>
            <a:endParaRPr lang="en-US" sz="730" dirty="0"/>
          </a:p>
        </p:txBody>
      </p:sp>
      <p:sp>
        <p:nvSpPr>
          <p:cNvPr id="45" name="Text 35"/>
          <p:cNvSpPr/>
          <p:nvPr/>
        </p:nvSpPr>
        <p:spPr>
          <a:xfrm>
            <a:off x="5500836" y="135448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4338" y="1437986"/>
            <a:ext cx="132588" cy="132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838700" y="1711226"/>
            <a:ext cx="1656493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560"/>
              </a:spcAft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 workflows with memory. LangChain / LangGraph style pipelines with tool-calling.</a:t>
            </a:r>
            <a:endParaRPr lang="en-US" sz="650" dirty="0"/>
          </a:p>
        </p:txBody>
      </p:sp>
      <p:sp>
        <p:nvSpPr>
          <p:cNvPr id="48" name="Text 37"/>
          <p:cNvSpPr/>
          <p:nvPr/>
        </p:nvSpPr>
        <p:spPr>
          <a:xfrm>
            <a:off x="4838700" y="2153692"/>
            <a:ext cx="509290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560" dirty="0"/>
          </a:p>
        </p:txBody>
      </p:sp>
      <p:sp>
        <p:nvSpPr>
          <p:cNvPr id="49" name="Text 38"/>
          <p:cNvSpPr/>
          <p:nvPr/>
        </p:nvSpPr>
        <p:spPr>
          <a:xfrm>
            <a:off x="5383411" y="2153692"/>
            <a:ext cx="538163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560" dirty="0"/>
          </a:p>
        </p:txBody>
      </p:sp>
      <p:sp>
        <p:nvSpPr>
          <p:cNvPr id="50" name="Text 39"/>
          <p:cNvSpPr/>
          <p:nvPr/>
        </p:nvSpPr>
        <p:spPr>
          <a:xfrm>
            <a:off x="4838700" y="2393603"/>
            <a:ext cx="361355" cy="185812"/>
          </a:xfrm>
          <a:prstGeom prst="roundRect">
            <a:avLst>
              <a:gd name="adj" fmla="val 77234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51" name="Text 40"/>
          <p:cNvSpPr/>
          <p:nvPr/>
        </p:nvSpPr>
        <p:spPr>
          <a:xfrm>
            <a:off x="5488335" y="2488853"/>
            <a:ext cx="97437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1"/>
          <p:cNvSpPr/>
          <p:nvPr/>
        </p:nvSpPr>
        <p:spPr>
          <a:xfrm>
            <a:off x="5488335" y="2488853"/>
            <a:ext cx="7404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87171"/>
              </a:gs>
              <a:gs pos="100000">
                <a:srgbClr val="EF44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2256" y="1374279"/>
            <a:ext cx="214313" cy="85725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72288" y="1002209"/>
            <a:ext cx="1871663" cy="1670149"/>
          </a:xfrm>
          <a:prstGeom prst="roundRect">
            <a:avLst>
              <a:gd name="adj" fmla="val 5171"/>
            </a:avLst>
          </a:prstGeom>
          <a:solidFill>
            <a:srgbClr val="0D1F3A"/>
          </a:solidFill>
          <a:ln w="9525">
            <a:solidFill>
              <a:srgbClr val="00C9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6996113" y="1112044"/>
            <a:ext cx="185291" cy="203820"/>
          </a:xfrm>
          <a:prstGeom prst="ellipse">
            <a:avLst/>
          </a:prstGeom>
          <a:solidFill>
            <a:srgbClr val="00C9FF">
              <a:alpha val="8000"/>
            </a:srgbClr>
          </a:solidFill>
          <a:ln w="9525">
            <a:solidFill>
              <a:srgbClr val="00C9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56" name="Text 44"/>
          <p:cNvSpPr/>
          <p:nvPr/>
        </p:nvSpPr>
        <p:spPr>
          <a:xfrm>
            <a:off x="7238554" y="1149102"/>
            <a:ext cx="130117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Fine-tuned Domain Models</a:t>
            </a:r>
            <a:endParaRPr lang="en-US" sz="730" dirty="0"/>
          </a:p>
        </p:txBody>
      </p:sp>
      <p:sp>
        <p:nvSpPr>
          <p:cNvPr id="57" name="Text 45"/>
          <p:cNvSpPr/>
          <p:nvPr/>
        </p:nvSpPr>
        <p:spPr>
          <a:xfrm>
            <a:off x="7658249" y="1354485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41750" y="1437986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996113" y="1711226"/>
            <a:ext cx="1656493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560"/>
              </a:spcAft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 trained on enterprise-specific data for maximum domain precision and control.</a:t>
            </a:r>
            <a:endParaRPr lang="en-US" sz="650" dirty="0"/>
          </a:p>
        </p:txBody>
      </p:sp>
      <p:sp>
        <p:nvSpPr>
          <p:cNvPr id="60" name="Text 47"/>
          <p:cNvSpPr/>
          <p:nvPr/>
        </p:nvSpPr>
        <p:spPr>
          <a:xfrm>
            <a:off x="6996113" y="2153692"/>
            <a:ext cx="673150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</a:t>
            </a:r>
            <a:endParaRPr lang="en-US" sz="560" dirty="0"/>
          </a:p>
        </p:txBody>
      </p:sp>
      <p:sp>
        <p:nvSpPr>
          <p:cNvPr id="61" name="Text 48"/>
          <p:cNvSpPr/>
          <p:nvPr/>
        </p:nvSpPr>
        <p:spPr>
          <a:xfrm>
            <a:off x="7704683" y="2153692"/>
            <a:ext cx="520154" cy="185812"/>
          </a:xfrm>
          <a:prstGeom prst="roundRect">
            <a:avLst>
              <a:gd name="adj" fmla="val 7723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LoRA/SFT</a:t>
            </a:r>
            <a:endParaRPr lang="en-US" sz="560" dirty="0"/>
          </a:p>
        </p:txBody>
      </p:sp>
      <p:sp>
        <p:nvSpPr>
          <p:cNvPr id="62" name="Text 49"/>
          <p:cNvSpPr/>
          <p:nvPr/>
        </p:nvSpPr>
        <p:spPr>
          <a:xfrm>
            <a:off x="6996113" y="2393603"/>
            <a:ext cx="361355" cy="185812"/>
          </a:xfrm>
          <a:prstGeom prst="roundRect">
            <a:avLst>
              <a:gd name="adj" fmla="val 77234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63" name="Text 50"/>
          <p:cNvSpPr/>
          <p:nvPr/>
        </p:nvSpPr>
        <p:spPr>
          <a:xfrm>
            <a:off x="7645747" y="2488853"/>
            <a:ext cx="97437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1"/>
          <p:cNvSpPr/>
          <p:nvPr/>
        </p:nvSpPr>
        <p:spPr>
          <a:xfrm>
            <a:off x="7645747" y="2488853"/>
            <a:ext cx="925562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2"/>
          <p:cNvSpPr/>
          <p:nvPr/>
        </p:nvSpPr>
        <p:spPr>
          <a:xfrm>
            <a:off x="543520" y="2758678"/>
            <a:ext cx="8056959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9FF">
                  <a:alpha val="15000"/>
                </a:srgbClr>
              </a:gs>
              <a:gs pos="30000">
                <a:srgbClr val="00C9FF">
                  <a:alpha val="60000"/>
                </a:srgbClr>
              </a:gs>
              <a:gs pos="65000">
                <a:srgbClr val="00C9FF">
                  <a:alpha val="85000"/>
                </a:srgbClr>
              </a:gs>
              <a:gs pos="100000">
                <a:srgbClr val="00C9FF">
                  <a:alpha val="35000"/>
                </a:srgbClr>
              </a:gs>
            </a:gsLst>
            <a:lin ang="0" scaled="1"/>
          </a:gradFill>
          <a:ln/>
          <a:effectLst>
            <a:outerShdw blurRad="86360" dist="50800" dir="16200000" algn="bl" rotWithShape="0">
              <a:srgbClr val="00C9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3"/>
          <p:cNvSpPr/>
          <p:nvPr/>
        </p:nvSpPr>
        <p:spPr>
          <a:xfrm>
            <a:off x="400050" y="2902148"/>
            <a:ext cx="8343900" cy="635645"/>
          </a:xfrm>
          <a:prstGeom prst="roundRect">
            <a:avLst>
              <a:gd name="adj" fmla="val 13586"/>
            </a:avLst>
          </a:prstGeom>
          <a:gradFill rotWithShape="1">
            <a:gsLst>
              <a:gs pos="0">
                <a:srgbClr val="071830"/>
              </a:gs>
              <a:gs pos="100000">
                <a:srgbClr val="0A1E38"/>
              </a:gs>
            </a:gsLst>
            <a:lin ang="2700000" scaled="1"/>
          </a:gradFill>
          <a:ln w="9525">
            <a:solidFill>
              <a:srgbClr val="00C9FF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4"/>
          <p:cNvSpPr/>
          <p:nvPr/>
        </p:nvSpPr>
        <p:spPr>
          <a:xfrm>
            <a:off x="567035" y="3077021"/>
            <a:ext cx="285750" cy="285750"/>
          </a:xfrm>
          <a:prstGeom prst="ellipse">
            <a:avLst/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50000"/>
              </a:srgbClr>
            </a:solidFill>
          </a:ln>
          <a:effectLst>
            <a:outerShdw blurRad="100330" dist="50800" dir="16200000" algn="bl" rotWithShape="0">
              <a:srgbClr val="00C9FF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3542" y="3153528"/>
            <a:ext cx="132588" cy="132588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967085" y="3019723"/>
            <a:ext cx="15585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Sweet Spot for Enterprise</a:t>
            </a:r>
            <a:endParaRPr lang="en-US" sz="730" dirty="0"/>
          </a:p>
        </p:txBody>
      </p:sp>
      <p:sp>
        <p:nvSpPr>
          <p:cNvPr id="70" name="Text 56"/>
          <p:cNvSpPr/>
          <p:nvPr/>
        </p:nvSpPr>
        <p:spPr>
          <a:xfrm>
            <a:off x="2454920" y="3085356"/>
            <a:ext cx="5316587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7"/>
          <p:cNvSpPr/>
          <p:nvPr/>
        </p:nvSpPr>
        <p:spPr>
          <a:xfrm>
            <a:off x="967085" y="3172569"/>
            <a:ext cx="6940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· Low hallucination · Domain-aware responses</a:t>
            </a:r>
            <a:r>
              <a:rPr lang="en-US" sz="6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RAG grounds LLM outputs in your enterprise knowledge base, eliminating hallucinations while keeping data sovereign and auditable. The optimal pattern for production enterprise AI in 2025–2026.</a:t>
            </a:r>
            <a:endParaRPr lang="en-US" sz="650" dirty="0"/>
          </a:p>
        </p:txBody>
      </p:sp>
      <p:sp>
        <p:nvSpPr>
          <p:cNvPr id="72" name="Text 58"/>
          <p:cNvSpPr/>
          <p:nvPr/>
        </p:nvSpPr>
        <p:spPr>
          <a:xfrm>
            <a:off x="7885807" y="2990404"/>
            <a:ext cx="691158" cy="459135"/>
          </a:xfrm>
          <a:prstGeom prst="roundRect">
            <a:avLst>
              <a:gd name="adj" fmla="val 15490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59"/>
          <p:cNvSpPr/>
          <p:nvPr/>
        </p:nvSpPr>
        <p:spPr>
          <a:xfrm>
            <a:off x="7972068" y="3049339"/>
            <a:ext cx="51863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</a:t>
            </a:r>
            <a:endParaRPr lang="en-US" sz="510" dirty="0"/>
          </a:p>
        </p:txBody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66927" y="3160672"/>
            <a:ext cx="132588" cy="132588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8088905" y="3167955"/>
            <a:ext cx="3809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620" dirty="0"/>
          </a:p>
        </p:txBody>
      </p:sp>
      <p:sp>
        <p:nvSpPr>
          <p:cNvPr id="76" name="Text 61"/>
          <p:cNvSpPr/>
          <p:nvPr/>
        </p:nvSpPr>
        <p:spPr>
          <a:xfrm>
            <a:off x="7972068" y="3293566"/>
            <a:ext cx="51863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 API</a:t>
            </a:r>
            <a:endParaRPr lang="en-US" sz="510" dirty="0"/>
          </a:p>
        </p:txBody>
      </p:sp>
      <p:sp>
        <p:nvSpPr>
          <p:cNvPr id="77" name="Text 62"/>
          <p:cNvSpPr/>
          <p:nvPr/>
        </p:nvSpPr>
        <p:spPr>
          <a:xfrm>
            <a:off x="400050" y="3587204"/>
            <a:ext cx="8343900" cy="635645"/>
          </a:xfrm>
          <a:prstGeom prst="roundRect">
            <a:avLst>
              <a:gd name="adj" fmla="val 13586"/>
            </a:avLst>
          </a:prstGeom>
          <a:gradFill rotWithShape="1">
            <a:gsLst>
              <a:gs pos="0">
                <a:srgbClr val="071830"/>
              </a:gs>
              <a:gs pos="100000">
                <a:srgbClr val="071A30"/>
              </a:gs>
            </a:gsLst>
            <a:lin ang="2700000" scaled="1"/>
          </a:gradFill>
          <a:ln w="9525">
            <a:solidFill>
              <a:srgbClr val="00C9FF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3"/>
          <p:cNvSpPr/>
          <p:nvPr/>
        </p:nvSpPr>
        <p:spPr>
          <a:xfrm>
            <a:off x="567035" y="3762077"/>
            <a:ext cx="285750" cy="285750"/>
          </a:xfrm>
          <a:prstGeom prst="ellipse">
            <a:avLst/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55000"/>
              </a:srgbClr>
            </a:solidFill>
          </a:ln>
          <a:effectLst>
            <a:outerShdw blurRad="114300" dist="50800" dir="16200000" algn="bl" rotWithShape="0">
              <a:srgbClr val="00C9FF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3542" y="3838584"/>
            <a:ext cx="132588" cy="132588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967085" y="3766691"/>
            <a:ext cx="122946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 Model Integration</a:t>
            </a:r>
            <a:endParaRPr lang="en-US" sz="730" dirty="0"/>
          </a:p>
        </p:txBody>
      </p:sp>
      <p:sp>
        <p:nvSpPr>
          <p:cNvPr id="81" name="Text 65"/>
          <p:cNvSpPr/>
          <p:nvPr/>
        </p:nvSpPr>
        <p:spPr>
          <a:xfrm>
            <a:off x="2155775" y="3832324"/>
            <a:ext cx="5567511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66"/>
          <p:cNvSpPr/>
          <p:nvPr/>
        </p:nvSpPr>
        <p:spPr>
          <a:xfrm>
            <a:off x="967085" y="3919537"/>
            <a:ext cx="743182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(GPT-4V, Gemini Vision)</a:t>
            </a:r>
            <a:r>
              <a:rPr lang="en-US" sz="6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 image understanding to enterprise workflows — </a:t>
            </a:r>
            <a:r>
              <a:rPr lang="en-US" sz="6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imaging, document scanning, quality inspection.</a:t>
            </a:r>
            <a:endParaRPr lang="en-US" sz="650" dirty="0"/>
          </a:p>
        </p:txBody>
      </p:sp>
      <p:sp>
        <p:nvSpPr>
          <p:cNvPr id="83" name="Text 67"/>
          <p:cNvSpPr/>
          <p:nvPr/>
        </p:nvSpPr>
        <p:spPr>
          <a:xfrm>
            <a:off x="7837587" y="3675459"/>
            <a:ext cx="739378" cy="459135"/>
          </a:xfrm>
          <a:prstGeom prst="roundRect">
            <a:avLst>
              <a:gd name="adj" fmla="val 15490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68"/>
          <p:cNvSpPr/>
          <p:nvPr/>
        </p:nvSpPr>
        <p:spPr>
          <a:xfrm>
            <a:off x="7921436" y="3734395"/>
            <a:ext cx="57167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510" dirty="0"/>
          </a:p>
        </p:txBody>
      </p:sp>
      <p:pic>
        <p:nvPicPr>
          <p:cNvPr id="8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15879" y="3845728"/>
            <a:ext cx="132588" cy="132588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8031607" y="3853011"/>
            <a:ext cx="4562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620" dirty="0"/>
          </a:p>
        </p:txBody>
      </p:sp>
      <p:sp>
        <p:nvSpPr>
          <p:cNvPr id="87" name="Text 70"/>
          <p:cNvSpPr/>
          <p:nvPr/>
        </p:nvSpPr>
        <p:spPr>
          <a:xfrm>
            <a:off x="7921436" y="3978622"/>
            <a:ext cx="57167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</a:t>
            </a:r>
            <a:endParaRPr lang="en-US" sz="510" dirty="0"/>
          </a:p>
        </p:txBody>
      </p:sp>
      <p:sp>
        <p:nvSpPr>
          <p:cNvPr id="88" name="Text 71"/>
          <p:cNvSpPr/>
          <p:nvPr/>
        </p:nvSpPr>
        <p:spPr>
          <a:xfrm>
            <a:off x="1378967" y="2709193"/>
            <a:ext cx="128141" cy="128141"/>
          </a:xfrm>
          <a:prstGeom prst="ellipse">
            <a:avLst/>
          </a:prstGeom>
          <a:solidFill>
            <a:srgbClr val="050D1A"/>
          </a:solidFill>
          <a:ln w="19050">
            <a:solidFill>
              <a:srgbClr val="00C9FF"/>
            </a:solidFill>
          </a:ln>
          <a:effectLst>
            <a:outerShdw blurRad="100330" dist="50800" dir="16200000" algn="bl" rotWithShape="0">
              <a:srgbClr val="00C9FF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2"/>
          <p:cNvSpPr/>
          <p:nvPr/>
        </p:nvSpPr>
        <p:spPr>
          <a:xfrm>
            <a:off x="3443288" y="2687538"/>
            <a:ext cx="171450" cy="171450"/>
          </a:xfrm>
          <a:prstGeom prst="ellipse">
            <a:avLst/>
          </a:prstGeom>
          <a:solidFill>
            <a:srgbClr val="00C9FF"/>
          </a:solidFill>
          <a:ln w="19050">
            <a:solidFill>
              <a:srgbClr val="FFFFFF"/>
            </a:solidFill>
          </a:ln>
          <a:effectLst>
            <a:outerShdw blurRad="143510" dist="50800" dir="16200000" algn="bl" rotWithShape="0">
              <a:srgbClr val="00C9FF">
                <a:alpha val="9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3"/>
          <p:cNvSpPr/>
          <p:nvPr/>
        </p:nvSpPr>
        <p:spPr>
          <a:xfrm>
            <a:off x="5550917" y="2709193"/>
            <a:ext cx="128141" cy="128141"/>
          </a:xfrm>
          <a:prstGeom prst="ellipse">
            <a:avLst/>
          </a:prstGeom>
          <a:solidFill>
            <a:srgbClr val="050D1A"/>
          </a:solidFill>
          <a:ln w="19050">
            <a:solidFill>
              <a:srgbClr val="00C9FF"/>
            </a:solidFill>
          </a:ln>
          <a:effectLst>
            <a:outerShdw blurRad="100330" dist="50800" dir="16200000" algn="bl" rotWithShape="0">
              <a:srgbClr val="00C9FF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4"/>
          <p:cNvSpPr/>
          <p:nvPr/>
        </p:nvSpPr>
        <p:spPr>
          <a:xfrm>
            <a:off x="7636892" y="2709193"/>
            <a:ext cx="128141" cy="128141"/>
          </a:xfrm>
          <a:prstGeom prst="ellipse">
            <a:avLst/>
          </a:prstGeom>
          <a:solidFill>
            <a:srgbClr val="050D1A"/>
          </a:solidFill>
          <a:ln w="19050">
            <a:solidFill>
              <a:srgbClr val="00C9FF"/>
            </a:solidFill>
          </a:ln>
          <a:effectLst>
            <a:outerShdw blurRad="100330" dist="50800" dir="16200000" algn="bl" rotWithShape="0">
              <a:srgbClr val="00C9FF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64C8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40000" t="20000" r="6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425" y="807988"/>
            <a:ext cx="4159891" cy="13841"/>
          </a:xfrm>
          <a:custGeom>
            <a:avLst/>
            <a:gdLst/>
            <a:ahLst/>
            <a:cxnLst/>
            <a:rect l="l" t="t" r="r" b="b"/>
            <a:pathLst>
              <a:path w="4159891" h="13841">
                <a:moveTo>
                  <a:pt x="86360" y="0"/>
                </a:moveTo>
                <a:lnTo>
                  <a:pt x="4073531" y="0"/>
                </a:lnTo>
                <a:lnTo>
                  <a:pt x="4090731" y="1730"/>
                </a:lnTo>
                <a:lnTo>
                  <a:pt x="4097732" y="3460"/>
                </a:lnTo>
                <a:lnTo>
                  <a:pt x="4103019" y="5190"/>
                </a:lnTo>
                <a:lnTo>
                  <a:pt x="4107405" y="6920"/>
                </a:lnTo>
                <a:lnTo>
                  <a:pt x="4111205" y="8651"/>
                </a:lnTo>
                <a:lnTo>
                  <a:pt x="4114583" y="10381"/>
                </a:lnTo>
                <a:lnTo>
                  <a:pt x="4117635" y="12111"/>
                </a:lnTo>
                <a:lnTo>
                  <a:pt x="4120425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2425" y="807988"/>
            <a:ext cx="4159891" cy="1761973"/>
          </a:xfrm>
          <a:prstGeom prst="roundRect">
            <a:avLst>
              <a:gd name="adj" fmla="val 4901"/>
            </a:avLst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1680" y="807988"/>
            <a:ext cx="4159891" cy="13841"/>
          </a:xfrm>
          <a:custGeom>
            <a:avLst/>
            <a:gdLst/>
            <a:ahLst/>
            <a:cxnLst/>
            <a:rect l="l" t="t" r="r" b="b"/>
            <a:pathLst>
              <a:path w="4159891" h="13841">
                <a:moveTo>
                  <a:pt x="86360" y="0"/>
                </a:moveTo>
                <a:lnTo>
                  <a:pt x="4073531" y="0"/>
                </a:lnTo>
                <a:lnTo>
                  <a:pt x="4090731" y="1730"/>
                </a:lnTo>
                <a:lnTo>
                  <a:pt x="4097732" y="3460"/>
                </a:lnTo>
                <a:lnTo>
                  <a:pt x="4103019" y="5190"/>
                </a:lnTo>
                <a:lnTo>
                  <a:pt x="4107405" y="6920"/>
                </a:lnTo>
                <a:lnTo>
                  <a:pt x="4111205" y="8651"/>
                </a:lnTo>
                <a:lnTo>
                  <a:pt x="4114583" y="10381"/>
                </a:lnTo>
                <a:lnTo>
                  <a:pt x="4117635" y="12111"/>
                </a:lnTo>
                <a:lnTo>
                  <a:pt x="4120425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1680" y="807988"/>
            <a:ext cx="4159891" cy="1761973"/>
          </a:xfrm>
          <a:prstGeom prst="roundRect">
            <a:avLst>
              <a:gd name="adj" fmla="val 4901"/>
            </a:avLst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425" y="2689324"/>
            <a:ext cx="4159891" cy="13841"/>
          </a:xfrm>
          <a:custGeom>
            <a:avLst/>
            <a:gdLst/>
            <a:ahLst/>
            <a:cxnLst/>
            <a:rect l="l" t="t" r="r" b="b"/>
            <a:pathLst>
              <a:path w="4159891" h="13841">
                <a:moveTo>
                  <a:pt x="86360" y="0"/>
                </a:moveTo>
                <a:lnTo>
                  <a:pt x="4073531" y="0"/>
                </a:lnTo>
                <a:lnTo>
                  <a:pt x="4090731" y="1730"/>
                </a:lnTo>
                <a:lnTo>
                  <a:pt x="4097732" y="3460"/>
                </a:lnTo>
                <a:lnTo>
                  <a:pt x="4103019" y="5190"/>
                </a:lnTo>
                <a:lnTo>
                  <a:pt x="4107405" y="6920"/>
                </a:lnTo>
                <a:lnTo>
                  <a:pt x="4111205" y="8651"/>
                </a:lnTo>
                <a:lnTo>
                  <a:pt x="4114583" y="10381"/>
                </a:lnTo>
                <a:lnTo>
                  <a:pt x="4117635" y="12111"/>
                </a:lnTo>
                <a:lnTo>
                  <a:pt x="4120425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425" y="2689324"/>
            <a:ext cx="4159891" cy="1761973"/>
          </a:xfrm>
          <a:prstGeom prst="roundRect">
            <a:avLst>
              <a:gd name="adj" fmla="val 4901"/>
            </a:avLst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31680" y="2689324"/>
            <a:ext cx="4159891" cy="13841"/>
          </a:xfrm>
          <a:custGeom>
            <a:avLst/>
            <a:gdLst/>
            <a:ahLst/>
            <a:cxnLst/>
            <a:rect l="l" t="t" r="r" b="b"/>
            <a:pathLst>
              <a:path w="4159891" h="13841">
                <a:moveTo>
                  <a:pt x="86360" y="0"/>
                </a:moveTo>
                <a:lnTo>
                  <a:pt x="4073531" y="0"/>
                </a:lnTo>
                <a:lnTo>
                  <a:pt x="4090731" y="1730"/>
                </a:lnTo>
                <a:lnTo>
                  <a:pt x="4097732" y="3460"/>
                </a:lnTo>
                <a:lnTo>
                  <a:pt x="4103019" y="5190"/>
                </a:lnTo>
                <a:lnTo>
                  <a:pt x="4107405" y="6920"/>
                </a:lnTo>
                <a:lnTo>
                  <a:pt x="4111205" y="8651"/>
                </a:lnTo>
                <a:lnTo>
                  <a:pt x="4114583" y="10381"/>
                </a:lnTo>
                <a:lnTo>
                  <a:pt x="4117635" y="12111"/>
                </a:lnTo>
                <a:lnTo>
                  <a:pt x="4120425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31680" y="2689324"/>
            <a:ext cx="4159891" cy="1761973"/>
          </a:xfrm>
          <a:prstGeom prst="roundRect">
            <a:avLst>
              <a:gd name="adj" fmla="val 4901"/>
            </a:avLst>
          </a:prstGeom>
          <a:gradFill rotWithShape="1">
            <a:gsLst>
              <a:gs pos="0">
                <a:srgbClr val="00C9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2425" y="4570661"/>
            <a:ext cx="21580" cy="378023"/>
          </a:xfrm>
          <a:custGeom>
            <a:avLst/>
            <a:gdLst/>
            <a:ahLst/>
            <a:cxnLst/>
            <a:rect l="l" t="t" r="r" b="b"/>
            <a:pathLst>
              <a:path w="21580" h="378023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365605"/>
                </a:lnTo>
                <a:lnTo>
                  <a:pt x="18883" y="363320"/>
                </a:lnTo>
                <a:lnTo>
                  <a:pt x="16185" y="360723"/>
                </a:lnTo>
                <a:lnTo>
                  <a:pt x="13488" y="357748"/>
                </a:lnTo>
                <a:lnTo>
                  <a:pt x="10790" y="354293"/>
                </a:lnTo>
                <a:lnTo>
                  <a:pt x="8093" y="350190"/>
                </a:lnTo>
                <a:lnTo>
                  <a:pt x="5395" y="345113"/>
                </a:lnTo>
                <a:lnTo>
                  <a:pt x="2698" y="338224"/>
                </a:lnTo>
                <a:lnTo>
                  <a:pt x="0" y="320873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64C8">
                  <a:alpha val="5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2900" y="228600"/>
            <a:ext cx="4930418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7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for Vision: Aligning with the Conference Theme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5037088" y="290959"/>
            <a:ext cx="714226" cy="181228"/>
          </a:xfrm>
          <a:prstGeom prst="roundRect">
            <a:avLst>
              <a:gd name="adj" fmla="val 79188"/>
            </a:avLst>
          </a:prstGeom>
          <a:gradFill rotWithShape="1">
            <a:gsLst>
              <a:gs pos="0">
                <a:srgbClr val="00C9FF">
                  <a:alpha val="18000"/>
                </a:srgbClr>
              </a:gs>
              <a:gs pos="100000">
                <a:srgbClr val="0064C8">
                  <a:alpha val="22000"/>
                </a:srgbClr>
              </a:gs>
            </a:gsLst>
            <a:lin ang="2700000" scaled="1"/>
          </a:gradFill>
          <a:ln w="9525">
            <a:solidFill>
              <a:srgbClr val="00C9FF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</a:t>
            </a:r>
            <a:endParaRPr lang="en-US" sz="62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5569" y="306967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42900" y="512713"/>
            <a:ext cx="93040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280"/>
              </a:spcBef>
              <a:buNone/>
            </a:pPr>
            <a:r>
              <a:rPr lang="en-US" sz="900" i="1" dirty="0">
                <a:solidFill>
                  <a:srgbClr val="00C9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Computer Vision meets Enterprise AI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2900" y="798463"/>
            <a:ext cx="4178945" cy="1781026"/>
          </a:xfrm>
          <a:prstGeom prst="roundRect">
            <a:avLst>
              <a:gd name="adj" fmla="val 4849"/>
            </a:avLst>
          </a:prstGeom>
          <a:gradFill rotWithShape="1">
            <a:gsLst>
              <a:gs pos="0">
                <a:srgbClr val="0D1F3A">
                  <a:alpha val="95000"/>
                </a:srgbClr>
              </a:gs>
              <a:gs pos="100000">
                <a:srgbClr val="051228">
                  <a:alpha val="98000"/>
                </a:srgbClr>
              </a:gs>
            </a:gsLst>
            <a:lin ang="3300000" scaled="1"/>
          </a:gra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0566" y="922288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C9FF">
                  <a:alpha val="14000"/>
                </a:srgbClr>
              </a:gs>
              <a:gs pos="100000">
                <a:srgbClr val="0050B4">
                  <a:alpha val="18000"/>
                </a:srgbClr>
              </a:gs>
            </a:gsLst>
            <a:lin ang="27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732" y="1013454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81807" y="981968"/>
            <a:ext cx="171880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Computer Vision in Enterprise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480566" y="1308199"/>
            <a:ext cx="3981685" cy="28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00C9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detection, scene understanding,</a:t>
            </a: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real-time image classification embedded in enterprise workflows. Angular frontends consume vision API results to display annotated outputs at scale.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4622155" y="798463"/>
            <a:ext cx="4178945" cy="1781026"/>
          </a:xfrm>
          <a:prstGeom prst="roundRect">
            <a:avLst>
              <a:gd name="adj" fmla="val 4849"/>
            </a:avLst>
          </a:prstGeom>
          <a:gradFill rotWithShape="1">
            <a:gsLst>
              <a:gs pos="0">
                <a:srgbClr val="0D1F3A">
                  <a:alpha val="95000"/>
                </a:srgbClr>
              </a:gs>
              <a:gs pos="100000">
                <a:srgbClr val="051228">
                  <a:alpha val="98000"/>
                </a:srgbClr>
              </a:gs>
            </a:gsLst>
            <a:lin ang="3300000" scaled="1"/>
          </a:gra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59821" y="922288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C9FF">
                  <a:alpha val="14000"/>
                </a:srgbClr>
              </a:gs>
              <a:gs pos="100000">
                <a:srgbClr val="0050B4">
                  <a:alpha val="18000"/>
                </a:srgbClr>
              </a:gs>
            </a:gsLst>
            <a:lin ang="27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0987" y="1013454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61062" y="981968"/>
            <a:ext cx="107852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Medical Imaging AI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4759821" y="1308199"/>
            <a:ext cx="3981685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00C9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radiology, pathology, and diagnostic imaging. AI-assisted anomaly detection reduces radiologist workload by surfacing priority cases — a key  Healthcare capability.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342900" y="2679799"/>
            <a:ext cx="4178945" cy="1781026"/>
          </a:xfrm>
          <a:prstGeom prst="roundRect">
            <a:avLst>
              <a:gd name="adj" fmla="val 4849"/>
            </a:avLst>
          </a:prstGeom>
          <a:gradFill rotWithShape="1">
            <a:gsLst>
              <a:gs pos="0">
                <a:srgbClr val="0D1F3A">
                  <a:alpha val="95000"/>
                </a:srgbClr>
              </a:gs>
              <a:gs pos="100000">
                <a:srgbClr val="051228">
                  <a:alpha val="98000"/>
                </a:srgbClr>
              </a:gs>
            </a:gsLst>
            <a:lin ang="3300000" scaled="1"/>
          </a:gra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80566" y="2803624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C9FF">
                  <a:alpha val="14000"/>
                </a:srgbClr>
              </a:gs>
              <a:gs pos="100000">
                <a:srgbClr val="0050B4">
                  <a:alpha val="18000"/>
                </a:srgbClr>
              </a:gs>
            </a:gsLst>
            <a:lin ang="27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732" y="2894790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81807" y="2863304"/>
            <a:ext cx="13034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Multimodal AI Systems</a:t>
            </a:r>
            <a:endParaRPr lang="en-US" sz="840" dirty="0"/>
          </a:p>
        </p:txBody>
      </p:sp>
      <p:sp>
        <p:nvSpPr>
          <p:cNvPr id="34" name="Text 28"/>
          <p:cNvSpPr/>
          <p:nvPr/>
        </p:nvSpPr>
        <p:spPr>
          <a:xfrm>
            <a:off x="480566" y="3189536"/>
            <a:ext cx="3981685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00C9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understand text and images</a:t>
            </a: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(GPT-4V, Gemini Vision, LLaVA). Spring Boot orchestrates multimodal pipelines combining document AI with image analysis for rich, context-aware enterprise outputs.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4622155" y="2679799"/>
            <a:ext cx="4178945" cy="1781026"/>
          </a:xfrm>
          <a:prstGeom prst="roundRect">
            <a:avLst>
              <a:gd name="adj" fmla="val 4849"/>
            </a:avLst>
          </a:prstGeom>
          <a:gradFill rotWithShape="1">
            <a:gsLst>
              <a:gs pos="0">
                <a:srgbClr val="0D1F3A">
                  <a:alpha val="95000"/>
                </a:srgbClr>
              </a:gs>
              <a:gs pos="100000">
                <a:srgbClr val="051228">
                  <a:alpha val="98000"/>
                </a:srgbClr>
              </a:gs>
            </a:gsLst>
            <a:lin ang="3300000" scaled="1"/>
          </a:gra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759821" y="2803624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C9FF">
                  <a:alpha val="14000"/>
                </a:srgbClr>
              </a:gs>
              <a:gs pos="100000">
                <a:srgbClr val="0050B4">
                  <a:alpha val="18000"/>
                </a:srgbClr>
              </a:gs>
            </a:gsLst>
            <a:lin ang="27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0987" y="2894790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61062" y="2863304"/>
            <a:ext cx="151792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 Analytics &amp; Insights</a:t>
            </a:r>
            <a:endParaRPr lang="en-US" sz="840" dirty="0"/>
          </a:p>
        </p:txBody>
      </p:sp>
      <p:sp>
        <p:nvSpPr>
          <p:cNvPr id="39" name="Text 32"/>
          <p:cNvSpPr/>
          <p:nvPr/>
        </p:nvSpPr>
        <p:spPr>
          <a:xfrm>
            <a:off x="4759821" y="3189536"/>
            <a:ext cx="3981685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00C9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analytics dashboards</a:t>
            </a: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with Angular, powered by vision APIs. Manufacturing QA, retail shelf analytics, and clinical image trending — turning pixels into actionable business intelligence.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342900" y="4561136"/>
            <a:ext cx="8458200" cy="397073"/>
          </a:xfrm>
          <a:prstGeom prst="roundRect">
            <a:avLst>
              <a:gd name="adj" fmla="val 14393"/>
            </a:avLst>
          </a:prstGeom>
          <a:gradFill rotWithShape="1">
            <a:gsLst>
              <a:gs pos="0">
                <a:srgbClr val="00C9FF">
                  <a:alpha val="12000"/>
                </a:srgbClr>
              </a:gs>
              <a:gs pos="50000">
                <a:srgbClr val="0064C8">
                  <a:alpha val="10000"/>
                </a:srgbClr>
              </a:gs>
              <a:gs pos="100000">
                <a:srgbClr val="00C9FF">
                  <a:alpha val="6000"/>
                </a:srgbClr>
              </a:gs>
            </a:gsLst>
            <a:lin ang="0" scaled="1"/>
          </a:gradFill>
          <a:ln w="9525">
            <a:solidFill>
              <a:srgbClr val="00C9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95895" y="4645372"/>
            <a:ext cx="228600" cy="228600"/>
          </a:xfrm>
          <a:prstGeom prst="ellipse">
            <a:avLst/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901" y="4693378"/>
            <a:ext cx="132588" cy="13258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10816" y="4635401"/>
            <a:ext cx="7225448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00C9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Healthcare Perspective:</a:t>
            </a:r>
            <a:r>
              <a:rPr lang="en-US" sz="700" dirty="0">
                <a:solidFill>
                  <a:srgbClr val="E8F0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and computer vision are transforming how clinicians </a:t>
            </a:r>
            <a:r>
              <a:rPr lang="en-US" sz="700" i="1" dirty="0">
                <a:solidFill>
                  <a:srgbClr val="00C9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see, interpret, and act</a:t>
            </a:r>
            <a:r>
              <a:rPr lang="en-US" sz="700" dirty="0">
                <a:solidFill>
                  <a:srgbClr val="E8F0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medical data — directly aligning with the ICIVC 2026 mission of advancing image, vision and computing research.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7980908" y="4667548"/>
            <a:ext cx="667196" cy="184100"/>
          </a:xfrm>
          <a:prstGeom prst="roundRect">
            <a:avLst>
              <a:gd name="adj" fmla="val 23455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1770" y="4693229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157865" y="4706243"/>
            <a:ext cx="4506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</a:t>
            </a:r>
            <a:endParaRPr lang="en-US" sz="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7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20000" t="90000" r="8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50A0">
                  <a:alpha val="9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902047"/>
            <a:ext cx="1991620" cy="13841"/>
          </a:xfrm>
          <a:custGeom>
            <a:avLst/>
            <a:gdLst/>
            <a:ahLst/>
            <a:cxnLst/>
            <a:rect l="l" t="t" r="r" b="b"/>
            <a:pathLst>
              <a:path w="1991620" h="13841">
                <a:moveTo>
                  <a:pt x="100330" y="0"/>
                </a:moveTo>
                <a:lnTo>
                  <a:pt x="1891291" y="0"/>
                </a:lnTo>
                <a:lnTo>
                  <a:pt x="1909843" y="1730"/>
                </a:lnTo>
                <a:lnTo>
                  <a:pt x="1917413" y="3460"/>
                </a:lnTo>
                <a:lnTo>
                  <a:pt x="1923143" y="5190"/>
                </a:lnTo>
                <a:lnTo>
                  <a:pt x="1927907" y="6920"/>
                </a:lnTo>
                <a:lnTo>
                  <a:pt x="1932046" y="8651"/>
                </a:lnTo>
                <a:lnTo>
                  <a:pt x="1935734" y="10381"/>
                </a:lnTo>
                <a:lnTo>
                  <a:pt x="1939076" y="12111"/>
                </a:lnTo>
                <a:lnTo>
                  <a:pt x="1942141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9695" y="61629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C9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20553" y="902047"/>
            <a:ext cx="1991763" cy="13841"/>
          </a:xfrm>
          <a:custGeom>
            <a:avLst/>
            <a:gdLst/>
            <a:ahLst/>
            <a:cxnLst/>
            <a:rect l="l" t="t" r="r" b="b"/>
            <a:pathLst>
              <a:path w="1991763" h="13841">
                <a:moveTo>
                  <a:pt x="100330" y="0"/>
                </a:moveTo>
                <a:lnTo>
                  <a:pt x="1891434" y="0"/>
                </a:lnTo>
                <a:lnTo>
                  <a:pt x="1909985" y="1730"/>
                </a:lnTo>
                <a:lnTo>
                  <a:pt x="1917556" y="3460"/>
                </a:lnTo>
                <a:lnTo>
                  <a:pt x="1923286" y="5190"/>
                </a:lnTo>
                <a:lnTo>
                  <a:pt x="1928050" y="6920"/>
                </a:lnTo>
                <a:lnTo>
                  <a:pt x="1932189" y="8651"/>
                </a:lnTo>
                <a:lnTo>
                  <a:pt x="1935877" y="10381"/>
                </a:lnTo>
                <a:lnTo>
                  <a:pt x="1939219" y="12111"/>
                </a:lnTo>
                <a:lnTo>
                  <a:pt x="1942284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40816" y="61629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C9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1680" y="902047"/>
            <a:ext cx="1991620" cy="13841"/>
          </a:xfrm>
          <a:custGeom>
            <a:avLst/>
            <a:gdLst/>
            <a:ahLst/>
            <a:cxnLst/>
            <a:rect l="l" t="t" r="r" b="b"/>
            <a:pathLst>
              <a:path w="1991620" h="13841">
                <a:moveTo>
                  <a:pt x="100330" y="0"/>
                </a:moveTo>
                <a:lnTo>
                  <a:pt x="1891291" y="0"/>
                </a:lnTo>
                <a:lnTo>
                  <a:pt x="1909843" y="1730"/>
                </a:lnTo>
                <a:lnTo>
                  <a:pt x="1917413" y="3460"/>
                </a:lnTo>
                <a:lnTo>
                  <a:pt x="1923143" y="5190"/>
                </a:lnTo>
                <a:lnTo>
                  <a:pt x="1927907" y="6920"/>
                </a:lnTo>
                <a:lnTo>
                  <a:pt x="1932046" y="8651"/>
                </a:lnTo>
                <a:lnTo>
                  <a:pt x="1935734" y="10381"/>
                </a:lnTo>
                <a:lnTo>
                  <a:pt x="1939076" y="12111"/>
                </a:lnTo>
                <a:lnTo>
                  <a:pt x="1942141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51800" y="61629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C9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42658" y="902047"/>
            <a:ext cx="1991763" cy="13841"/>
          </a:xfrm>
          <a:custGeom>
            <a:avLst/>
            <a:gdLst/>
            <a:ahLst/>
            <a:cxnLst/>
            <a:rect l="l" t="t" r="r" b="b"/>
            <a:pathLst>
              <a:path w="1991763" h="13841">
                <a:moveTo>
                  <a:pt x="100330" y="0"/>
                </a:moveTo>
                <a:lnTo>
                  <a:pt x="1891434" y="0"/>
                </a:lnTo>
                <a:lnTo>
                  <a:pt x="1909985" y="1730"/>
                </a:lnTo>
                <a:lnTo>
                  <a:pt x="1917556" y="3460"/>
                </a:lnTo>
                <a:lnTo>
                  <a:pt x="1923286" y="5190"/>
                </a:lnTo>
                <a:lnTo>
                  <a:pt x="1928050" y="6920"/>
                </a:lnTo>
                <a:lnTo>
                  <a:pt x="1932189" y="8651"/>
                </a:lnTo>
                <a:lnTo>
                  <a:pt x="1935877" y="10381"/>
                </a:lnTo>
                <a:lnTo>
                  <a:pt x="1939219" y="12111"/>
                </a:lnTo>
                <a:lnTo>
                  <a:pt x="1942284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62921" y="61629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C9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9575" y="2509986"/>
            <a:ext cx="21580" cy="1143591"/>
          </a:xfrm>
          <a:custGeom>
            <a:avLst/>
            <a:gdLst/>
            <a:ahLst/>
            <a:cxnLst/>
            <a:rect l="l" t="t" r="r" b="b"/>
            <a:pathLst>
              <a:path w="21580" h="11435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14341"/>
                </a:lnTo>
                <a:lnTo>
                  <a:pt x="18883" y="1111127"/>
                </a:lnTo>
                <a:lnTo>
                  <a:pt x="16185" y="1107565"/>
                </a:lnTo>
                <a:lnTo>
                  <a:pt x="13488" y="1103573"/>
                </a:lnTo>
                <a:lnTo>
                  <a:pt x="10790" y="1099030"/>
                </a:lnTo>
                <a:lnTo>
                  <a:pt x="8093" y="1093731"/>
                </a:lnTo>
                <a:lnTo>
                  <a:pt x="5395" y="1087276"/>
                </a:lnTo>
                <a:lnTo>
                  <a:pt x="2698" y="1078646"/>
                </a:lnTo>
                <a:lnTo>
                  <a:pt x="0" y="1057231"/>
                </a:lnTo>
                <a:close/>
              </a:path>
            </a:pathLst>
          </a:custGeom>
          <a:solidFill>
            <a:srgbClr val="00C9FF"/>
          </a:soli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38675" y="2509986"/>
            <a:ext cx="21580" cy="1143591"/>
          </a:xfrm>
          <a:custGeom>
            <a:avLst/>
            <a:gdLst/>
            <a:ahLst/>
            <a:cxnLst/>
            <a:rect l="l" t="t" r="r" b="b"/>
            <a:pathLst>
              <a:path w="21580" h="114359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14341"/>
                </a:lnTo>
                <a:lnTo>
                  <a:pt x="18883" y="1111127"/>
                </a:lnTo>
                <a:lnTo>
                  <a:pt x="16185" y="1107565"/>
                </a:lnTo>
                <a:lnTo>
                  <a:pt x="13488" y="1103573"/>
                </a:lnTo>
                <a:lnTo>
                  <a:pt x="10790" y="1099030"/>
                </a:lnTo>
                <a:lnTo>
                  <a:pt x="8093" y="1093731"/>
                </a:lnTo>
                <a:lnTo>
                  <a:pt x="5395" y="1087276"/>
                </a:lnTo>
                <a:lnTo>
                  <a:pt x="2698" y="1078646"/>
                </a:lnTo>
                <a:lnTo>
                  <a:pt x="0" y="1057231"/>
                </a:lnTo>
                <a:close/>
              </a:path>
            </a:pathLst>
          </a:custGeom>
          <a:solidFill>
            <a:srgbClr val="00C9FF"/>
          </a:solidFill>
          <a:ln/>
          <a:effectLst>
            <a:outerShdw blurRad="86360" dist="50800" dir="16200000" algn="bl" rotWithShape="0">
              <a:srgbClr val="00C9FF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0050" y="257770"/>
            <a:ext cx="3429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93191"/>
            <a:ext cx="892797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spcAft>
                <a:spcPts val="170"/>
              </a:spcAft>
              <a:buNone/>
            </a:pPr>
            <a:r>
              <a:rPr lang="en-US" sz="180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Typical Industry Outcomes: Enterprise &amp; Healthcare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0050" y="577602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outcomes from AI adoption across industries (industry benchmarks)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0050" y="892522"/>
            <a:ext cx="2010668" cy="1289298"/>
          </a:xfrm>
          <a:prstGeom prst="roundRect">
            <a:avLst>
              <a:gd name="adj" fmla="val 7782"/>
            </a:avLst>
          </a:prstGeom>
          <a:solidFill>
            <a:srgbClr val="0D1F3A"/>
          </a:solidFill>
          <a:ln w="9525">
            <a:solidFill>
              <a:srgbClr val="00C9FF">
                <a:alpha val="22000"/>
              </a:srgbClr>
            </a:solidFill>
          </a:ln>
          <a:effectLst>
            <a:outerShdw blurRad="171450" dist="50800" dir="16200000" algn="bl" rotWithShape="0">
              <a:srgbClr val="00C9FF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7840" y="1806922"/>
            <a:ext cx="279053" cy="27905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7035" y="1030188"/>
            <a:ext cx="1760533" cy="4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60"/>
              </a:lnSpc>
              <a:buNone/>
            </a:pPr>
            <a:r>
              <a:rPr lang="en-US" sz="3260" b="1" kern="0" spc="-60" dirty="0">
                <a:solidFill>
                  <a:srgbClr val="00C9FF"/>
                </a:solidFill>
                <a:effectLst>
                  <a:glow rad="857250">
                    <a:srgbClr val="00C9FF">
                      <a:alpha val="6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~40%</a:t>
            </a:r>
            <a:endParaRPr lang="en-US" sz="326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493" y="1486355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9698" y="1493639"/>
            <a:ext cx="56071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567035" y="1668661"/>
            <a:ext cx="160366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reduction in manual clinical data entry through AI-assisted documentation (Industry Benchmark)</a:t>
            </a:r>
            <a:endParaRPr lang="en-US" sz="730" dirty="0"/>
          </a:p>
        </p:txBody>
      </p:sp>
      <p:sp>
        <p:nvSpPr>
          <p:cNvPr id="24" name="Text 20"/>
          <p:cNvSpPr/>
          <p:nvPr/>
        </p:nvSpPr>
        <p:spPr>
          <a:xfrm>
            <a:off x="2511028" y="892522"/>
            <a:ext cx="2010817" cy="1289298"/>
          </a:xfrm>
          <a:prstGeom prst="roundRect">
            <a:avLst>
              <a:gd name="adj" fmla="val 7782"/>
            </a:avLst>
          </a:prstGeom>
          <a:solidFill>
            <a:srgbClr val="0D1F3A"/>
          </a:solidFill>
          <a:ln w="9525">
            <a:solidFill>
              <a:srgbClr val="00C9FF">
                <a:alpha val="22000"/>
              </a:srgbClr>
            </a:solidFill>
          </a:ln>
          <a:effectLst>
            <a:outerShdw blurRad="171450" dist="50800" dir="16200000" algn="bl" rotWithShape="0">
              <a:srgbClr val="00C9FF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8967" y="1806922"/>
            <a:ext cx="279053" cy="27905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78013" y="1030188"/>
            <a:ext cx="1760689" cy="4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60"/>
              </a:lnSpc>
              <a:buNone/>
            </a:pPr>
            <a:r>
              <a:rPr lang="en-US" sz="3260" b="1" kern="0" spc="-60" dirty="0">
                <a:solidFill>
                  <a:srgbClr val="00C9FF"/>
                </a:solidFill>
                <a:effectLst>
                  <a:glow rad="857250">
                    <a:srgbClr val="00C9FF">
                      <a:alpha val="6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~3x</a:t>
            </a:r>
            <a:endParaRPr lang="en-US" sz="326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6471" y="1486355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790676" y="1493639"/>
            <a:ext cx="3722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620" dirty="0"/>
          </a:p>
        </p:txBody>
      </p:sp>
      <p:sp>
        <p:nvSpPr>
          <p:cNvPr id="29" name="Text 23"/>
          <p:cNvSpPr/>
          <p:nvPr/>
        </p:nvSpPr>
        <p:spPr>
          <a:xfrm>
            <a:off x="2678013" y="1668661"/>
            <a:ext cx="160366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 reported with AI-powered analytics dashboards (Industry Studies)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4622155" y="892522"/>
            <a:ext cx="2010668" cy="1289298"/>
          </a:xfrm>
          <a:prstGeom prst="roundRect">
            <a:avLst>
              <a:gd name="adj" fmla="val 7782"/>
            </a:avLst>
          </a:prstGeom>
          <a:solidFill>
            <a:srgbClr val="0D1F3A"/>
          </a:solidFill>
          <a:ln w="9525">
            <a:solidFill>
              <a:srgbClr val="00C9FF">
                <a:alpha val="22000"/>
              </a:srgbClr>
            </a:solidFill>
          </a:ln>
          <a:effectLst>
            <a:outerShdw blurRad="171450" dist="50800" dir="16200000" algn="bl" rotWithShape="0">
              <a:srgbClr val="00C9FF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9945" y="1806922"/>
            <a:ext cx="279053" cy="27905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789140" y="1030188"/>
            <a:ext cx="1760533" cy="4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60"/>
              </a:lnSpc>
              <a:buNone/>
            </a:pPr>
            <a:r>
              <a:rPr lang="en-US" sz="3260" b="1" kern="0" spc="-60" dirty="0">
                <a:solidFill>
                  <a:srgbClr val="00C9FF"/>
                </a:solidFill>
                <a:effectLst>
                  <a:glow rad="857250">
                    <a:srgbClr val="00C9FF">
                      <a:alpha val="6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~60%</a:t>
            </a:r>
            <a:endParaRPr lang="en-US" sz="326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7598" y="1486355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01803" y="1493639"/>
            <a:ext cx="7008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620" dirty="0"/>
          </a:p>
        </p:txBody>
      </p:sp>
      <p:sp>
        <p:nvSpPr>
          <p:cNvPr id="35" name="Text 27"/>
          <p:cNvSpPr/>
          <p:nvPr/>
        </p:nvSpPr>
        <p:spPr>
          <a:xfrm>
            <a:off x="4789140" y="1668661"/>
            <a:ext cx="160366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search relevance using vector-based semantic search (Enterprise AI Reports)</a:t>
            </a:r>
            <a:endParaRPr lang="en-US" sz="730" dirty="0"/>
          </a:p>
        </p:txBody>
      </p:sp>
      <p:sp>
        <p:nvSpPr>
          <p:cNvPr id="36" name="Text 28"/>
          <p:cNvSpPr/>
          <p:nvPr/>
        </p:nvSpPr>
        <p:spPr>
          <a:xfrm>
            <a:off x="6733133" y="892522"/>
            <a:ext cx="2010817" cy="1289298"/>
          </a:xfrm>
          <a:prstGeom prst="roundRect">
            <a:avLst>
              <a:gd name="adj" fmla="val 7782"/>
            </a:avLst>
          </a:prstGeom>
          <a:solidFill>
            <a:srgbClr val="0D1F3A"/>
          </a:solidFill>
          <a:ln w="9525">
            <a:solidFill>
              <a:srgbClr val="00C9FF">
                <a:alpha val="22000"/>
              </a:srgbClr>
            </a:solidFill>
          </a:ln>
          <a:effectLst>
            <a:outerShdw blurRad="171450" dist="50800" dir="16200000" algn="bl" rotWithShape="0">
              <a:srgbClr val="00C9FF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1072" y="1806922"/>
            <a:ext cx="279053" cy="27905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900118" y="1030188"/>
            <a:ext cx="1760689" cy="4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60"/>
              </a:lnSpc>
              <a:buNone/>
            </a:pPr>
            <a:r>
              <a:rPr lang="en-US" sz="3260" b="1" kern="0" spc="-60" dirty="0">
                <a:solidFill>
                  <a:srgbClr val="00C9FF"/>
                </a:solidFill>
                <a:effectLst>
                  <a:glow rad="857250">
                    <a:srgbClr val="00C9FF">
                      <a:alpha val="6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~85%</a:t>
            </a:r>
            <a:endParaRPr lang="en-US" sz="326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8576" y="1486355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12781" y="1493639"/>
            <a:ext cx="6898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620" dirty="0"/>
          </a:p>
        </p:txBody>
      </p:sp>
      <p:sp>
        <p:nvSpPr>
          <p:cNvPr id="41" name="Text 31"/>
          <p:cNvSpPr/>
          <p:nvPr/>
        </p:nvSpPr>
        <p:spPr>
          <a:xfrm>
            <a:off x="6900118" y="1668661"/>
            <a:ext cx="160366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scores with AI copilot features in enterprise portals (Industry Surveys)</a:t>
            </a:r>
            <a:endParaRPr lang="en-US" sz="730" dirty="0"/>
          </a:p>
        </p:txBody>
      </p:sp>
      <p:sp>
        <p:nvSpPr>
          <p:cNvPr id="42" name="Text 32"/>
          <p:cNvSpPr/>
          <p:nvPr/>
        </p:nvSpPr>
        <p:spPr>
          <a:xfrm>
            <a:off x="400050" y="2351336"/>
            <a:ext cx="3454450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3940820" y="2296120"/>
            <a:ext cx="138843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</a:t>
            </a:r>
            <a:endParaRPr lang="en-US" sz="620" dirty="0"/>
          </a:p>
        </p:txBody>
      </p:sp>
      <p:sp>
        <p:nvSpPr>
          <p:cNvPr id="44" name="Text 34"/>
          <p:cNvSpPr/>
          <p:nvPr/>
        </p:nvSpPr>
        <p:spPr>
          <a:xfrm>
            <a:off x="5289352" y="2351336"/>
            <a:ext cx="3454598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C9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400050" y="2500461"/>
            <a:ext cx="4114800" cy="1162645"/>
          </a:xfrm>
          <a:prstGeom prst="roundRect">
            <a:avLst>
              <a:gd name="adj" fmla="val 7428"/>
            </a:avLst>
          </a:prstGeom>
          <a:gradFill rotWithShape="1">
            <a:gsLst>
              <a:gs pos="0">
                <a:srgbClr val="0D2040"/>
              </a:gs>
              <a:gs pos="100000">
                <a:srgbClr val="091528"/>
              </a:gs>
            </a:gsLst>
            <a:lin ang="2700000" scaled="1"/>
          </a:gradFill>
          <a:ln w="9525">
            <a:solidFill>
              <a:srgbClr val="00C9FF">
                <a:alpha val="18000"/>
              </a:srgbClr>
            </a:solidFill>
          </a:ln>
          <a:effectLst>
            <a:outerShdw blurRad="128270" dist="13970" dir="5400000" algn="bl" rotWithShape="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6"/>
          <p:cNvSpPr/>
          <p:nvPr/>
        </p:nvSpPr>
        <p:spPr>
          <a:xfrm>
            <a:off x="553045" y="262428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051" y="2672292"/>
            <a:ext cx="132588" cy="1325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3045" y="2939207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8"/>
          <p:cNvSpPr/>
          <p:nvPr/>
        </p:nvSpPr>
        <p:spPr>
          <a:xfrm>
            <a:off x="637877" y="2910036"/>
            <a:ext cx="241719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patient record summarization with clinical NLP</a:t>
            </a:r>
            <a:endParaRPr lang="en-US" sz="700" dirty="0"/>
          </a:p>
        </p:txBody>
      </p:sp>
      <p:sp>
        <p:nvSpPr>
          <p:cNvPr id="50" name="Text 39"/>
          <p:cNvSpPr/>
          <p:nvPr/>
        </p:nvSpPr>
        <p:spPr>
          <a:xfrm>
            <a:off x="553045" y="3083868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0"/>
          <p:cNvSpPr/>
          <p:nvPr/>
        </p:nvSpPr>
        <p:spPr>
          <a:xfrm>
            <a:off x="637877" y="3054697"/>
            <a:ext cx="266750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powered by domain-fine-tuned LLMs</a:t>
            </a:r>
            <a:endParaRPr lang="en-US" sz="700" dirty="0"/>
          </a:p>
        </p:txBody>
      </p:sp>
      <p:sp>
        <p:nvSpPr>
          <p:cNvPr id="52" name="Text 41"/>
          <p:cNvSpPr/>
          <p:nvPr/>
        </p:nvSpPr>
        <p:spPr>
          <a:xfrm>
            <a:off x="553045" y="3228529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2"/>
          <p:cNvSpPr/>
          <p:nvPr/>
        </p:nvSpPr>
        <p:spPr>
          <a:xfrm>
            <a:off x="637877" y="3199358"/>
            <a:ext cx="247727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in patient vitals &amp; lab results</a:t>
            </a:r>
            <a:endParaRPr lang="en-US" sz="700" dirty="0"/>
          </a:p>
        </p:txBody>
      </p:sp>
      <p:sp>
        <p:nvSpPr>
          <p:cNvPr id="54" name="Text 43"/>
          <p:cNvSpPr/>
          <p:nvPr/>
        </p:nvSpPr>
        <p:spPr>
          <a:xfrm>
            <a:off x="553045" y="3385840"/>
            <a:ext cx="867221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</a:t>
            </a:r>
            <a:endParaRPr lang="en-US" sz="560" dirty="0"/>
          </a:p>
        </p:txBody>
      </p:sp>
      <p:sp>
        <p:nvSpPr>
          <p:cNvPr id="55" name="Text 44"/>
          <p:cNvSpPr/>
          <p:nvPr/>
        </p:nvSpPr>
        <p:spPr>
          <a:xfrm>
            <a:off x="1463427" y="3385840"/>
            <a:ext cx="571500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560" dirty="0"/>
          </a:p>
        </p:txBody>
      </p:sp>
      <p:sp>
        <p:nvSpPr>
          <p:cNvPr id="56" name="Text 45"/>
          <p:cNvSpPr/>
          <p:nvPr/>
        </p:nvSpPr>
        <p:spPr>
          <a:xfrm>
            <a:off x="2078087" y="3385840"/>
            <a:ext cx="547241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560" dirty="0"/>
          </a:p>
        </p:txBody>
      </p:sp>
      <p:sp>
        <p:nvSpPr>
          <p:cNvPr id="57" name="Text 46"/>
          <p:cNvSpPr/>
          <p:nvPr/>
        </p:nvSpPr>
        <p:spPr>
          <a:xfrm>
            <a:off x="4629150" y="2500461"/>
            <a:ext cx="4114800" cy="1162645"/>
          </a:xfrm>
          <a:prstGeom prst="roundRect">
            <a:avLst>
              <a:gd name="adj" fmla="val 7428"/>
            </a:avLst>
          </a:prstGeom>
          <a:gradFill rotWithShape="1">
            <a:gsLst>
              <a:gs pos="0">
                <a:srgbClr val="0D2040"/>
              </a:gs>
              <a:gs pos="100000">
                <a:srgbClr val="091528"/>
              </a:gs>
            </a:gsLst>
            <a:lin ang="2700000" scaled="1"/>
          </a:gradFill>
          <a:ln w="9525">
            <a:solidFill>
              <a:srgbClr val="00C9FF">
                <a:alpha val="18000"/>
              </a:srgbClr>
            </a:solidFill>
          </a:ln>
          <a:effectLst>
            <a:outerShdw blurRad="128270" dist="13970" dir="5400000" algn="bl" rotWithShape="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7"/>
          <p:cNvSpPr/>
          <p:nvPr/>
        </p:nvSpPr>
        <p:spPr>
          <a:xfrm>
            <a:off x="4782145" y="262428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0151" y="2672292"/>
            <a:ext cx="132588" cy="13258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4782145" y="2939207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4866977" y="2910036"/>
            <a:ext cx="279782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workflow automation reducing manual processing time</a:t>
            </a:r>
            <a:endParaRPr lang="en-US" sz="700" dirty="0"/>
          </a:p>
        </p:txBody>
      </p:sp>
      <p:sp>
        <p:nvSpPr>
          <p:cNvPr id="62" name="Text 50"/>
          <p:cNvSpPr/>
          <p:nvPr/>
        </p:nvSpPr>
        <p:spPr>
          <a:xfrm>
            <a:off x="4782145" y="3083868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1"/>
          <p:cNvSpPr/>
          <p:nvPr/>
        </p:nvSpPr>
        <p:spPr>
          <a:xfrm>
            <a:off x="4866977" y="3054697"/>
            <a:ext cx="266194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procurement with ML-powered demand forecasting</a:t>
            </a:r>
            <a:endParaRPr lang="en-US" sz="700" dirty="0"/>
          </a:p>
        </p:txBody>
      </p:sp>
      <p:sp>
        <p:nvSpPr>
          <p:cNvPr id="64" name="Text 52"/>
          <p:cNvSpPr/>
          <p:nvPr/>
        </p:nvSpPr>
        <p:spPr>
          <a:xfrm>
            <a:off x="4782145" y="3228529"/>
            <a:ext cx="35421" cy="35421"/>
          </a:xfrm>
          <a:prstGeom prst="ellipse">
            <a:avLst/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3"/>
          <p:cNvSpPr/>
          <p:nvPr/>
        </p:nvSpPr>
        <p:spPr>
          <a:xfrm>
            <a:off x="4866977" y="3199358"/>
            <a:ext cx="253179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HR assistant for policy Q&amp;A and onboarding</a:t>
            </a:r>
            <a:endParaRPr lang="en-US" sz="700" dirty="0"/>
          </a:p>
        </p:txBody>
      </p:sp>
      <p:sp>
        <p:nvSpPr>
          <p:cNvPr id="66" name="Text 54"/>
          <p:cNvSpPr/>
          <p:nvPr/>
        </p:nvSpPr>
        <p:spPr>
          <a:xfrm>
            <a:off x="4782145" y="3385840"/>
            <a:ext cx="636984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560" dirty="0"/>
          </a:p>
        </p:txBody>
      </p:sp>
      <p:sp>
        <p:nvSpPr>
          <p:cNvPr id="67" name="Text 55"/>
          <p:cNvSpPr/>
          <p:nvPr/>
        </p:nvSpPr>
        <p:spPr>
          <a:xfrm>
            <a:off x="5462290" y="3385840"/>
            <a:ext cx="752326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560" dirty="0"/>
          </a:p>
        </p:txBody>
      </p:sp>
      <p:sp>
        <p:nvSpPr>
          <p:cNvPr id="68" name="Text 56"/>
          <p:cNvSpPr/>
          <p:nvPr/>
        </p:nvSpPr>
        <p:spPr>
          <a:xfrm>
            <a:off x="6257776" y="3385840"/>
            <a:ext cx="554534" cy="168786"/>
          </a:xfrm>
          <a:prstGeom prst="roundRect">
            <a:avLst>
              <a:gd name="adj" fmla="val 8502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LLM</a:t>
            </a:r>
            <a:endParaRPr lang="en-US" sz="560" dirty="0"/>
          </a:p>
        </p:txBody>
      </p:sp>
      <p:sp>
        <p:nvSpPr>
          <p:cNvPr id="69" name="Text 57"/>
          <p:cNvSpPr/>
          <p:nvPr/>
        </p:nvSpPr>
        <p:spPr>
          <a:xfrm>
            <a:off x="400050" y="3734098"/>
            <a:ext cx="8510778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59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Figures represent typical industry outcomes from published enterprise AI adoption studies. Actual results vary by implementation.</a:t>
            </a:r>
            <a:endParaRPr lang="en-US" sz="590" dirty="0"/>
          </a:p>
        </p:txBody>
      </p:sp>
      <p:sp>
        <p:nvSpPr>
          <p:cNvPr id="70" name="Text 58"/>
          <p:cNvSpPr/>
          <p:nvPr/>
        </p:nvSpPr>
        <p:spPr>
          <a:xfrm>
            <a:off x="400050" y="3734098"/>
            <a:ext cx="8343900" cy="9525"/>
          </a:xfrm>
          <a:prstGeom prst="rect">
            <a:avLst/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7446169" y="200620"/>
            <a:ext cx="1325761" cy="207913"/>
          </a:xfrm>
          <a:prstGeom prst="roundRect">
            <a:avLst>
              <a:gd name="adj" fmla="val 69024"/>
            </a:avLst>
          </a:prstGeom>
          <a:solidFill>
            <a:srgbClr val="00C9FF">
              <a:alpha val="8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0"/>
          <p:cNvSpPr/>
          <p:nvPr/>
        </p:nvSpPr>
        <p:spPr>
          <a:xfrm>
            <a:off x="7556004" y="279797"/>
            <a:ext cx="49411" cy="49411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1"/>
          <p:cNvSpPr/>
          <p:nvPr/>
        </p:nvSpPr>
        <p:spPr>
          <a:xfrm>
            <a:off x="7648575" y="245566"/>
            <a:ext cx="11148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421511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428750"/>
            <a:ext cx="4000500" cy="37147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0"/>
            <a:ext cx="5572720" cy="5143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9FF"/>
              </a:gs>
              <a:gs pos="70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324445" y="725835"/>
            <a:ext cx="1535459" cy="2337940"/>
          </a:xfrm>
          <a:prstGeom prst="roundRect">
            <a:avLst>
              <a:gd name="adj" fmla="val 5624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064246" y="725835"/>
            <a:ext cx="1535611" cy="2337940"/>
          </a:xfrm>
          <a:prstGeom prst="roundRect">
            <a:avLst>
              <a:gd name="adj" fmla="val 5624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804196" y="725835"/>
            <a:ext cx="1535459" cy="2337940"/>
          </a:xfrm>
          <a:prstGeom prst="roundRect">
            <a:avLst>
              <a:gd name="adj" fmla="val 5624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543996" y="725835"/>
            <a:ext cx="1535611" cy="2337940"/>
          </a:xfrm>
          <a:prstGeom prst="roundRect">
            <a:avLst>
              <a:gd name="adj" fmla="val 5624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283946" y="725835"/>
            <a:ext cx="1535611" cy="2337940"/>
          </a:xfrm>
          <a:prstGeom prst="roundRect">
            <a:avLst>
              <a:gd name="adj" fmla="val 5624"/>
            </a:avLst>
          </a:prstGeom>
          <a:gradFill rotWithShape="1">
            <a:gsLst>
              <a:gs pos="0">
                <a:srgbClr val="00C9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013371" y="647105"/>
            <a:ext cx="157460" cy="173206"/>
          </a:xfrm>
          <a:prstGeom prst="ellipse">
            <a:avLst/>
          </a:prstGeom>
          <a:solidFill>
            <a:srgbClr val="00C9FF"/>
          </a:solidFill>
          <a:ln/>
          <a:effectLst>
            <a:outerShdw blurRad="8636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15" name="Text 10"/>
          <p:cNvSpPr/>
          <p:nvPr/>
        </p:nvSpPr>
        <p:spPr>
          <a:xfrm>
            <a:off x="2753320" y="647105"/>
            <a:ext cx="157460" cy="173206"/>
          </a:xfrm>
          <a:prstGeom prst="ellipse">
            <a:avLst/>
          </a:prstGeom>
          <a:solidFill>
            <a:srgbClr val="00C9FF"/>
          </a:solidFill>
          <a:ln/>
          <a:effectLst>
            <a:outerShdw blurRad="8636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16" name="Text 11"/>
          <p:cNvSpPr/>
          <p:nvPr/>
        </p:nvSpPr>
        <p:spPr>
          <a:xfrm>
            <a:off x="4493121" y="647105"/>
            <a:ext cx="157460" cy="173206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7C3AED"/>
              </a:gs>
            </a:gsLst>
            <a:lin ang="2700000" scaled="1"/>
          </a:gradFill>
          <a:ln/>
          <a:effectLst>
            <a:outerShdw blurRad="114300" dist="50800" dir="16200000" algn="bl" rotWithShape="0">
              <a:srgbClr val="00C9FF">
                <a:alpha val="7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17" name="Text 12"/>
          <p:cNvSpPr/>
          <p:nvPr/>
        </p:nvSpPr>
        <p:spPr>
          <a:xfrm>
            <a:off x="6233071" y="647105"/>
            <a:ext cx="157460" cy="173206"/>
          </a:xfrm>
          <a:prstGeom prst="ellipse">
            <a:avLst/>
          </a:prstGeom>
          <a:solidFill>
            <a:srgbClr val="00C9FF"/>
          </a:solidFill>
          <a:ln/>
          <a:effectLst>
            <a:outerShdw blurRad="8636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18" name="Text 13"/>
          <p:cNvSpPr/>
          <p:nvPr/>
        </p:nvSpPr>
        <p:spPr>
          <a:xfrm>
            <a:off x="7973020" y="647105"/>
            <a:ext cx="157460" cy="173206"/>
          </a:xfrm>
          <a:prstGeom prst="ellipse">
            <a:avLst/>
          </a:prstGeom>
          <a:gradFill rotWithShape="1">
            <a:gsLst>
              <a:gs pos="0">
                <a:srgbClr val="00C9FF"/>
              </a:gs>
              <a:gs pos="100000">
                <a:srgbClr val="10B981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10B981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314920" y="17457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00C9FF"/>
          </a:solidFill>
          <a:ln/>
          <a:effectLst>
            <a:outerShdw blurRad="4318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72691" y="128141"/>
            <a:ext cx="148780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HEALTHCARE AI</a:t>
            </a:r>
            <a:endParaRPr lang="en-US" sz="560" dirty="0"/>
          </a:p>
        </p:txBody>
      </p:sp>
      <p:sp>
        <p:nvSpPr>
          <p:cNvPr id="21" name="Text 16"/>
          <p:cNvSpPr/>
          <p:nvPr/>
        </p:nvSpPr>
        <p:spPr>
          <a:xfrm>
            <a:off x="314920" y="264021"/>
            <a:ext cx="9110151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spcAft>
                <a:spcPts val="110"/>
              </a:spcAft>
              <a:buNone/>
            </a:pPr>
            <a:r>
              <a:rPr lang="en-US" sz="146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AI-Assisted Medical Imaging: </a:t>
            </a:r>
            <a:r>
              <a:rPr lang="en-US" sz="14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Real-World Workflow</a:t>
            </a:r>
            <a:endParaRPr lang="en-US" sz="1460" dirty="0"/>
          </a:p>
        </p:txBody>
      </p:sp>
      <p:sp>
        <p:nvSpPr>
          <p:cNvPr id="23" name="Text 18"/>
          <p:cNvSpPr/>
          <p:nvPr/>
        </p:nvSpPr>
        <p:spPr>
          <a:xfrm>
            <a:off x="314920" y="716310"/>
            <a:ext cx="1554510" cy="2356991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0D1F3A"/>
              </a:gs>
              <a:gs pos="100000">
                <a:srgbClr val="091628"/>
              </a:gs>
            </a:gsLst>
            <a:lin ang="3300000" scaled="1"/>
          </a:gra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934641" y="85397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114300" dist="50800" dir="16200000" algn="bl" rotWithShape="0">
              <a:srgbClr val="00C9FF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598" y="941933"/>
            <a:ext cx="139005" cy="13900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9037" y="1218307"/>
            <a:ext cx="56627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50" b="1" kern="0" spc="13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Scan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367384" y="1346597"/>
            <a:ext cx="1449583" cy="296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53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image acquisition via modality (CT, MRI, X-Ray, Ultrasound). Raw image data ingested into the AI pipeline.</a:t>
            </a:r>
            <a:endParaRPr lang="en-US" sz="530" dirty="0"/>
          </a:p>
        </p:txBody>
      </p:sp>
      <p:sp>
        <p:nvSpPr>
          <p:cNvPr id="28" name="Text 22"/>
          <p:cNvSpPr/>
          <p:nvPr/>
        </p:nvSpPr>
        <p:spPr>
          <a:xfrm>
            <a:off x="670322" y="1678186"/>
            <a:ext cx="166092" cy="145703"/>
          </a:xfrm>
          <a:prstGeom prst="roundRect">
            <a:avLst>
              <a:gd name="adj" fmla="val 20048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450" dirty="0"/>
          </a:p>
        </p:txBody>
      </p:sp>
      <p:sp>
        <p:nvSpPr>
          <p:cNvPr id="29" name="Text 23"/>
          <p:cNvSpPr/>
          <p:nvPr/>
        </p:nvSpPr>
        <p:spPr>
          <a:xfrm>
            <a:off x="857994" y="1678186"/>
            <a:ext cx="194667" cy="145703"/>
          </a:xfrm>
          <a:prstGeom prst="roundRect">
            <a:avLst>
              <a:gd name="adj" fmla="val 20048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450" dirty="0"/>
          </a:p>
        </p:txBody>
      </p:sp>
      <p:sp>
        <p:nvSpPr>
          <p:cNvPr id="30" name="Text 24"/>
          <p:cNvSpPr/>
          <p:nvPr/>
        </p:nvSpPr>
        <p:spPr>
          <a:xfrm>
            <a:off x="1074241" y="1678186"/>
            <a:ext cx="248692" cy="145703"/>
          </a:xfrm>
          <a:prstGeom prst="roundRect">
            <a:avLst>
              <a:gd name="adj" fmla="val 20048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450" dirty="0"/>
          </a:p>
        </p:txBody>
      </p:sp>
      <p:sp>
        <p:nvSpPr>
          <p:cNvPr id="31" name="Text 25"/>
          <p:cNvSpPr/>
          <p:nvPr/>
        </p:nvSpPr>
        <p:spPr>
          <a:xfrm>
            <a:off x="1344513" y="1678186"/>
            <a:ext cx="169366" cy="145703"/>
          </a:xfrm>
          <a:prstGeom prst="roundRect">
            <a:avLst>
              <a:gd name="adj" fmla="val 20048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450" dirty="0"/>
          </a:p>
        </p:txBody>
      </p:sp>
      <p:sp>
        <p:nvSpPr>
          <p:cNvPr id="32" name="Text 26"/>
          <p:cNvSpPr/>
          <p:nvPr/>
        </p:nvSpPr>
        <p:spPr>
          <a:xfrm>
            <a:off x="1869430" y="1887736"/>
            <a:ext cx="185291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C9FF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 rot="5400000">
            <a:off x="1997571" y="1866156"/>
            <a:ext cx="57150" cy="57150"/>
          </a:xfrm>
          <a:prstGeom prst="triangle">
            <a:avLst/>
          </a:prstGeom>
          <a:solidFill>
            <a:srgbClr val="00C9FF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2054721" y="716310"/>
            <a:ext cx="1554659" cy="2356991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0D1F3A"/>
              </a:gs>
              <a:gs pos="100000">
                <a:srgbClr val="091628"/>
              </a:gs>
            </a:gsLst>
            <a:lin ang="3300000" scaled="1"/>
          </a:gra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2674590" y="85397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114300" dist="50800" dir="16200000" algn="bl" rotWithShape="0">
              <a:srgbClr val="00C9FF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2548" y="941933"/>
            <a:ext cx="139005" cy="13900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428503" y="1218307"/>
            <a:ext cx="8070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50" b="1" kern="0" spc="13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Pre-processing</a:t>
            </a:r>
            <a:endParaRPr lang="en-US" sz="650" dirty="0"/>
          </a:p>
        </p:txBody>
      </p:sp>
      <p:sp>
        <p:nvSpPr>
          <p:cNvPr id="38" name="Text 31"/>
          <p:cNvSpPr/>
          <p:nvPr/>
        </p:nvSpPr>
        <p:spPr>
          <a:xfrm>
            <a:off x="2107183" y="1346597"/>
            <a:ext cx="1449735" cy="296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53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normalization, artifact removal, segmentation. Spring Boot microservice routes image to the correct AI model.</a:t>
            </a:r>
            <a:endParaRPr lang="en-US" sz="530" dirty="0"/>
          </a:p>
        </p:txBody>
      </p:sp>
      <p:sp>
        <p:nvSpPr>
          <p:cNvPr id="39" name="Text 32"/>
          <p:cNvSpPr/>
          <p:nvPr/>
        </p:nvSpPr>
        <p:spPr>
          <a:xfrm>
            <a:off x="2421582" y="1678186"/>
            <a:ext cx="388590" cy="145703"/>
          </a:xfrm>
          <a:prstGeom prst="roundRect">
            <a:avLst>
              <a:gd name="adj" fmla="val 2004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450" dirty="0"/>
          </a:p>
        </p:txBody>
      </p:sp>
      <p:sp>
        <p:nvSpPr>
          <p:cNvPr id="40" name="Text 33"/>
          <p:cNvSpPr/>
          <p:nvPr/>
        </p:nvSpPr>
        <p:spPr>
          <a:xfrm>
            <a:off x="2831753" y="1678186"/>
            <a:ext cx="410617" cy="145703"/>
          </a:xfrm>
          <a:prstGeom prst="roundRect">
            <a:avLst>
              <a:gd name="adj" fmla="val 2004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450" dirty="0"/>
          </a:p>
        </p:txBody>
      </p:sp>
      <p:sp>
        <p:nvSpPr>
          <p:cNvPr id="41" name="Text 34"/>
          <p:cNvSpPr/>
          <p:nvPr/>
        </p:nvSpPr>
        <p:spPr>
          <a:xfrm>
            <a:off x="3609380" y="1887736"/>
            <a:ext cx="185291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C9FF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 rot="5400000">
            <a:off x="3737521" y="1866156"/>
            <a:ext cx="57150" cy="57150"/>
          </a:xfrm>
          <a:prstGeom prst="triangle">
            <a:avLst/>
          </a:prstGeom>
          <a:solidFill>
            <a:srgbClr val="00C9FF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3794671" y="716310"/>
            <a:ext cx="1554510" cy="2356991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0D1F3A"/>
              </a:gs>
              <a:gs pos="100000">
                <a:srgbClr val="091628"/>
              </a:gs>
            </a:gsLst>
            <a:lin ang="3300000" scaled="1"/>
          </a:gradFill>
          <a:ln w="9525">
            <a:solidFill>
              <a:srgbClr val="00C9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414391" y="85397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C9FF">
              <a:alpha val="15000"/>
            </a:srgbClr>
          </a:solidFill>
          <a:ln w="9525">
            <a:solidFill>
              <a:srgbClr val="00C9FF">
                <a:alpha val="40000"/>
              </a:srgbClr>
            </a:solidFill>
          </a:ln>
          <a:effectLst>
            <a:outerShdw blurRad="171450" dist="50800" dir="16200000" algn="bl" rotWithShape="0">
              <a:srgbClr val="00C9FF">
                <a:alpha val="2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2348" y="941933"/>
            <a:ext cx="139005" cy="13900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319074" y="1218307"/>
            <a:ext cx="5057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50" b="1" kern="0" spc="13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650" dirty="0"/>
          </a:p>
        </p:txBody>
      </p:sp>
      <p:sp>
        <p:nvSpPr>
          <p:cNvPr id="47" name="Text 39"/>
          <p:cNvSpPr/>
          <p:nvPr/>
        </p:nvSpPr>
        <p:spPr>
          <a:xfrm>
            <a:off x="3847134" y="1346597"/>
            <a:ext cx="1449583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53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performs detection, classification, or segmentation. Results returned with confidence scores and annotated regions of interest.</a:t>
            </a:r>
            <a:endParaRPr lang="en-US" sz="530" dirty="0"/>
          </a:p>
        </p:txBody>
      </p:sp>
      <p:sp>
        <p:nvSpPr>
          <p:cNvPr id="48" name="Text 40"/>
          <p:cNvSpPr/>
          <p:nvPr/>
        </p:nvSpPr>
        <p:spPr>
          <a:xfrm>
            <a:off x="4111801" y="1772245"/>
            <a:ext cx="31809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00C9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450" dirty="0"/>
          </a:p>
        </p:txBody>
      </p:sp>
      <p:sp>
        <p:nvSpPr>
          <p:cNvPr id="49" name="Text 41"/>
          <p:cNvSpPr/>
          <p:nvPr/>
        </p:nvSpPr>
        <p:spPr>
          <a:xfrm>
            <a:off x="4444603" y="1800523"/>
            <a:ext cx="429220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4444603" y="1800523"/>
            <a:ext cx="37341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9FF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43180" dist="50800" dir="16200000" algn="bl" rotWithShape="0">
              <a:srgbClr val="00C9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4897271" y="1772245"/>
            <a:ext cx="12589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50" dirty="0"/>
          </a:p>
        </p:txBody>
      </p:sp>
      <p:sp>
        <p:nvSpPr>
          <p:cNvPr id="52" name="Text 44"/>
          <p:cNvSpPr/>
          <p:nvPr/>
        </p:nvSpPr>
        <p:spPr>
          <a:xfrm>
            <a:off x="5349180" y="1887736"/>
            <a:ext cx="185291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C9FF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 rot="5400000">
            <a:off x="5477321" y="1866156"/>
            <a:ext cx="57150" cy="57150"/>
          </a:xfrm>
          <a:prstGeom prst="triangle">
            <a:avLst/>
          </a:prstGeom>
          <a:solidFill>
            <a:srgbClr val="00C9FF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5534471" y="716310"/>
            <a:ext cx="1554659" cy="2356991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0D1F3A"/>
              </a:gs>
              <a:gs pos="100000">
                <a:srgbClr val="091628"/>
              </a:gs>
            </a:gsLst>
            <a:lin ang="3300000" scaled="1"/>
          </a:gra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6154341" y="85397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  <a:effectLst>
            <a:outerShdw blurRad="114300" dist="50800" dir="16200000" algn="bl" rotWithShape="0">
              <a:srgbClr val="00C9FF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2298" y="941933"/>
            <a:ext cx="139005" cy="139005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968008" y="1218307"/>
            <a:ext cx="68758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50" b="1" kern="0" spc="13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</a:t>
            </a:r>
            <a:endParaRPr lang="en-US" sz="650" dirty="0"/>
          </a:p>
        </p:txBody>
      </p:sp>
      <p:sp>
        <p:nvSpPr>
          <p:cNvPr id="58" name="Text 49"/>
          <p:cNvSpPr/>
          <p:nvPr/>
        </p:nvSpPr>
        <p:spPr>
          <a:xfrm>
            <a:off x="5586933" y="1346597"/>
            <a:ext cx="1449735" cy="296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53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Angular-powered clinical dashboard presents AI findings. Radiologist reviews AI annotations alongside original images.</a:t>
            </a:r>
            <a:endParaRPr lang="en-US" sz="530" dirty="0"/>
          </a:p>
        </p:txBody>
      </p:sp>
      <p:sp>
        <p:nvSpPr>
          <p:cNvPr id="59" name="Text 50"/>
          <p:cNvSpPr/>
          <p:nvPr/>
        </p:nvSpPr>
        <p:spPr>
          <a:xfrm>
            <a:off x="5936159" y="1678186"/>
            <a:ext cx="360015" cy="145703"/>
          </a:xfrm>
          <a:prstGeom prst="roundRect">
            <a:avLst>
              <a:gd name="adj" fmla="val 2004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450" dirty="0"/>
          </a:p>
        </p:txBody>
      </p:sp>
      <p:sp>
        <p:nvSpPr>
          <p:cNvPr id="60" name="Text 51"/>
          <p:cNvSpPr/>
          <p:nvPr/>
        </p:nvSpPr>
        <p:spPr>
          <a:xfrm>
            <a:off x="6317754" y="1678186"/>
            <a:ext cx="369540" cy="145703"/>
          </a:xfrm>
          <a:prstGeom prst="roundRect">
            <a:avLst>
              <a:gd name="adj" fmla="val 2004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50" dirty="0"/>
          </a:p>
        </p:txBody>
      </p:sp>
      <p:sp>
        <p:nvSpPr>
          <p:cNvPr id="61" name="Text 52"/>
          <p:cNvSpPr/>
          <p:nvPr/>
        </p:nvSpPr>
        <p:spPr>
          <a:xfrm>
            <a:off x="7089130" y="1887736"/>
            <a:ext cx="185291" cy="13841"/>
          </a:xfrm>
          <a:prstGeom prst="rect">
            <a:avLst/>
          </a:prstGeom>
          <a:gradFill rotWithShape="1">
            <a:gsLst>
              <a:gs pos="0">
                <a:srgbClr val="00C9FF">
                  <a:alpha val="40000"/>
                </a:srgbClr>
              </a:gs>
              <a:gs pos="100000">
                <a:srgbClr val="00C9FF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 rot="5400000">
            <a:off x="7217271" y="1866156"/>
            <a:ext cx="57150" cy="57150"/>
          </a:xfrm>
          <a:prstGeom prst="triangle">
            <a:avLst/>
          </a:prstGeom>
          <a:solidFill>
            <a:srgbClr val="00C9FF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7274421" y="716310"/>
            <a:ext cx="1554659" cy="2356991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0D1F3A"/>
              </a:gs>
              <a:gs pos="100000">
                <a:srgbClr val="091628"/>
              </a:gs>
            </a:gsLst>
            <a:lin ang="3300000" scaled="1"/>
          </a:gradFill>
          <a:ln w="9525">
            <a:solidFill>
              <a:srgbClr val="00C9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7894290" y="85397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5000"/>
              </a:srgbClr>
            </a:solidFill>
          </a:ln>
          <a:effectLst>
            <a:outerShdw blurRad="114300" dist="50800" dir="16200000" algn="bl" rotWithShape="0">
              <a:srgbClr val="00C9FF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82248" y="941933"/>
            <a:ext cx="139005" cy="139005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7661791" y="1218307"/>
            <a:ext cx="77991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50" b="1" kern="0" spc="13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650" dirty="0"/>
          </a:p>
        </p:txBody>
      </p:sp>
      <p:sp>
        <p:nvSpPr>
          <p:cNvPr id="67" name="Text 57"/>
          <p:cNvSpPr/>
          <p:nvPr/>
        </p:nvSpPr>
        <p:spPr>
          <a:xfrm>
            <a:off x="7326883" y="1346597"/>
            <a:ext cx="1449735" cy="296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53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report draft with key findings. Clinician approves, modifies, or overrides — human remains in the loop.</a:t>
            </a:r>
            <a:endParaRPr lang="en-US" sz="530" dirty="0"/>
          </a:p>
        </p:txBody>
      </p:sp>
      <p:sp>
        <p:nvSpPr>
          <p:cNvPr id="68" name="Text 58"/>
          <p:cNvSpPr/>
          <p:nvPr/>
        </p:nvSpPr>
        <p:spPr>
          <a:xfrm>
            <a:off x="7719566" y="1664345"/>
            <a:ext cx="664369" cy="114270"/>
          </a:xfrm>
          <a:prstGeom prst="roundRect">
            <a:avLst>
              <a:gd name="adj" fmla="val 25562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 ✓</a:t>
            </a:r>
            <a:endParaRPr lang="en-US" sz="450" dirty="0"/>
          </a:p>
        </p:txBody>
      </p:sp>
      <p:sp>
        <p:nvSpPr>
          <p:cNvPr id="69" name="Text 59"/>
          <p:cNvSpPr/>
          <p:nvPr/>
        </p:nvSpPr>
        <p:spPr>
          <a:xfrm>
            <a:off x="314920" y="3159621"/>
            <a:ext cx="4206925" cy="467916"/>
          </a:xfrm>
          <a:prstGeom prst="roundRect">
            <a:avLst>
              <a:gd name="adj" fmla="val 15199"/>
            </a:avLst>
          </a:prstGeom>
          <a:gradFill rotWithShape="1">
            <a:gsLst>
              <a:gs pos="0">
                <a:srgbClr val="00C9FF">
                  <a:alpha val="7000"/>
                </a:srgbClr>
              </a:gs>
              <a:gs pos="100000">
                <a:srgbClr val="00C9FF">
                  <a:alpha val="3000"/>
                </a:srgbClr>
              </a:gs>
            </a:gsLst>
            <a:lin ang="27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533" y="3229505"/>
            <a:ext cx="132588" cy="132588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591889" y="3240137"/>
            <a:ext cx="36399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620" dirty="0"/>
          </a:p>
        </p:txBody>
      </p:sp>
      <p:sp>
        <p:nvSpPr>
          <p:cNvPr id="72" name="Text 61"/>
          <p:cNvSpPr/>
          <p:nvPr/>
        </p:nvSpPr>
        <p:spPr>
          <a:xfrm>
            <a:off x="591889" y="3393579"/>
            <a:ext cx="468809" cy="168786"/>
          </a:xfrm>
          <a:prstGeom prst="roundRect">
            <a:avLst>
              <a:gd name="adj" fmla="val 2106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560" dirty="0"/>
          </a:p>
        </p:txBody>
      </p:sp>
      <p:sp>
        <p:nvSpPr>
          <p:cNvPr id="73" name="Text 62"/>
          <p:cNvSpPr/>
          <p:nvPr/>
        </p:nvSpPr>
        <p:spPr>
          <a:xfrm>
            <a:off x="1096119" y="3393579"/>
            <a:ext cx="670173" cy="168786"/>
          </a:xfrm>
          <a:prstGeom prst="roundRect">
            <a:avLst>
              <a:gd name="adj" fmla="val 2106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APIs</a:t>
            </a:r>
            <a:endParaRPr lang="en-US" sz="560" dirty="0"/>
          </a:p>
        </p:txBody>
      </p:sp>
      <p:sp>
        <p:nvSpPr>
          <p:cNvPr id="74" name="Text 63"/>
          <p:cNvSpPr/>
          <p:nvPr/>
        </p:nvSpPr>
        <p:spPr>
          <a:xfrm>
            <a:off x="1801713" y="3393579"/>
            <a:ext cx="660797" cy="168786"/>
          </a:xfrm>
          <a:prstGeom prst="roundRect">
            <a:avLst>
              <a:gd name="adj" fmla="val 2106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Models</a:t>
            </a:r>
            <a:endParaRPr lang="en-US" sz="560" dirty="0"/>
          </a:p>
        </p:txBody>
      </p:sp>
      <p:sp>
        <p:nvSpPr>
          <p:cNvPr id="75" name="Text 64"/>
          <p:cNvSpPr/>
          <p:nvPr/>
        </p:nvSpPr>
        <p:spPr>
          <a:xfrm>
            <a:off x="2497931" y="3393579"/>
            <a:ext cx="654248" cy="168786"/>
          </a:xfrm>
          <a:prstGeom prst="roundRect">
            <a:avLst>
              <a:gd name="adj" fmla="val 2106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Integration</a:t>
            </a:r>
            <a:endParaRPr lang="en-US" sz="560" dirty="0"/>
          </a:p>
        </p:txBody>
      </p:sp>
      <p:sp>
        <p:nvSpPr>
          <p:cNvPr id="76" name="Text 65"/>
          <p:cNvSpPr/>
          <p:nvPr/>
        </p:nvSpPr>
        <p:spPr>
          <a:xfrm>
            <a:off x="3187601" y="3393579"/>
            <a:ext cx="713333" cy="168786"/>
          </a:xfrm>
          <a:prstGeom prst="roundRect">
            <a:avLst>
              <a:gd name="adj" fmla="val 21068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Standards</a:t>
            </a:r>
            <a:endParaRPr lang="en-US" sz="560" dirty="0"/>
          </a:p>
        </p:txBody>
      </p:sp>
      <p:sp>
        <p:nvSpPr>
          <p:cNvPr id="77" name="Text 66"/>
          <p:cNvSpPr/>
          <p:nvPr/>
        </p:nvSpPr>
        <p:spPr>
          <a:xfrm>
            <a:off x="4622155" y="3159621"/>
            <a:ext cx="4206925" cy="467916"/>
          </a:xfrm>
          <a:prstGeom prst="roundRect">
            <a:avLst>
              <a:gd name="adj" fmla="val 15199"/>
            </a:avLst>
          </a:prstGeom>
          <a:gradFill rotWithShape="1">
            <a:gsLst>
              <a:gs pos="0">
                <a:srgbClr val="F59E0B">
                  <a:alpha val="8000"/>
                </a:srgbClr>
              </a:gs>
              <a:gs pos="100000">
                <a:srgbClr val="F59E0B">
                  <a:alpha val="3000"/>
                </a:srgbClr>
              </a:gs>
            </a:gsLst>
            <a:lin ang="2700000" scaled="1"/>
          </a:gra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3768" y="3229505"/>
            <a:ext cx="132588" cy="132588"/>
          </a:xfrm>
          <a:prstGeom prst="rect">
            <a:avLst/>
          </a:prstGeom>
        </p:spPr>
      </p:pic>
      <p:sp>
        <p:nvSpPr>
          <p:cNvPr id="79" name="Text 67"/>
          <p:cNvSpPr/>
          <p:nvPr/>
        </p:nvSpPr>
        <p:spPr>
          <a:xfrm>
            <a:off x="4899124" y="3240137"/>
            <a:ext cx="418199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620" dirty="0"/>
          </a:p>
        </p:txBody>
      </p:sp>
      <p:sp>
        <p:nvSpPr>
          <p:cNvPr id="80" name="Text 68"/>
          <p:cNvSpPr/>
          <p:nvPr/>
        </p:nvSpPr>
        <p:spPr>
          <a:xfrm>
            <a:off x="4899124" y="3393579"/>
            <a:ext cx="418199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59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augments</a:t>
            </a:r>
            <a:r>
              <a:rPr lang="en-US" sz="59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clinical judgment. Every AI finding is a </a:t>
            </a:r>
            <a:r>
              <a:rPr lang="en-US" sz="59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r>
              <a:rPr lang="en-US" sz="59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final diagnosis. </a:t>
            </a:r>
            <a:r>
              <a:rPr lang="en-US" sz="590" dirty="0">
                <a:solidFill>
                  <a:srgbClr val="F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clinician decides.</a:t>
            </a:r>
            <a:endParaRPr lang="en-US" sz="5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357015"/>
            <a:ext cx="1857970" cy="2429470"/>
          </a:xfrm>
          <a:prstGeom prst="rect">
            <a:avLst/>
          </a:prstGeom>
          <a:gradFill rotWithShape="1">
            <a:gsLst>
              <a:gs pos="0">
                <a:srgbClr val="F59E0B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6030" y="1357015"/>
            <a:ext cx="1857970" cy="2429470"/>
          </a:xfrm>
          <a:prstGeom prst="rect">
            <a:avLst/>
          </a:prstGeom>
          <a:gradFill rotWithShape="1">
            <a:gsLst>
              <a:gs pos="0">
                <a:srgbClr val="00C9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57625" y="428625"/>
            <a:ext cx="1428750" cy="4286250"/>
          </a:xfrm>
          <a:prstGeom prst="rect">
            <a:avLst/>
          </a:prstGeom>
          <a:gradFill rotWithShape="1">
            <a:gsLst>
              <a:gs pos="0">
                <a:srgbClr val="00C9FF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9FF">
                  <a:alpha val="70000"/>
                </a:srgbClr>
              </a:gs>
              <a:gs pos="50000">
                <a:srgbClr val="00C9FF"/>
              </a:gs>
              <a:gs pos="7000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4649539"/>
            <a:ext cx="8458200" cy="336500"/>
          </a:xfrm>
          <a:prstGeom prst="roundRect">
            <a:avLst>
              <a:gd name="adj" fmla="val 21135"/>
            </a:avLst>
          </a:prstGeom>
          <a:gradFill rotWithShape="1">
            <a:gsLst>
              <a:gs pos="0">
                <a:srgbClr val="00C9FF">
                  <a:alpha val="7000"/>
                </a:srgbClr>
              </a:gs>
              <a:gs pos="40000">
                <a:srgbClr val="050D1A">
                  <a:alpha val="85000"/>
                </a:srgbClr>
              </a:gs>
              <a:gs pos="100000">
                <a:srgbClr val="00C9FF">
                  <a:alpha val="7000"/>
                </a:srgbClr>
              </a:gs>
            </a:gsLst>
            <a:lin ang="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553" y="4751496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0958" y="4737795"/>
            <a:ext cx="46004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r>
              <a:rPr lang="en-US" sz="840" kern="0" spc="8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should augment human judgment — </a:t>
            </a:r>
            <a:r>
              <a:rPr lang="en-US" sz="840" b="1" kern="0" spc="8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replace accountability.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342900" y="214610"/>
            <a:ext cx="9050274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Responsible AI: </a:t>
            </a:r>
            <a:r>
              <a:rPr lang="en-US" sz="2030" b="1" kern="0" spc="-2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Non-Negotiables</a:t>
            </a:r>
            <a:endParaRPr lang="en-US" sz="2030" dirty="0"/>
          </a:p>
        </p:txBody>
      </p:sp>
      <p:sp>
        <p:nvSpPr>
          <p:cNvPr id="12" name="Text 9"/>
          <p:cNvSpPr/>
          <p:nvPr/>
        </p:nvSpPr>
        <p:spPr>
          <a:xfrm>
            <a:off x="342900" y="630734"/>
            <a:ext cx="271760" cy="13841"/>
          </a:xfrm>
          <a:prstGeom prst="roundRect">
            <a:avLst>
              <a:gd name="adj" fmla="val 100932"/>
            </a:avLst>
          </a:prstGeom>
          <a:solidFill>
            <a:srgbClr val="00C9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5651" y="546348"/>
            <a:ext cx="261659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into every layer of the system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342900" y="843409"/>
            <a:ext cx="3857625" cy="3785741"/>
          </a:xfrm>
          <a:prstGeom prst="roundRect">
            <a:avLst>
              <a:gd name="adj" fmla="val 2650"/>
            </a:avLst>
          </a:prstGeom>
          <a:gradFill rotWithShape="1">
            <a:gsLst>
              <a:gs pos="0">
                <a:srgbClr val="F59E0B">
                  <a:alpha val="8000"/>
                </a:srgbClr>
              </a:gs>
              <a:gs pos="100000">
                <a:srgbClr val="0D1F3A">
                  <a:alpha val="70000"/>
                </a:srgbClr>
              </a:gs>
            </a:gsLst>
            <a:lin ang="4200000" scaled="1"/>
          </a:gradFill>
          <a:ln w="9525">
            <a:solidFill>
              <a:srgbClr val="F59E0B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0566" y="981075"/>
            <a:ext cx="3653939" cy="265361"/>
          </a:xfrm>
          <a:prstGeom prst="roundRect">
            <a:avLst>
              <a:gd name="adj" fmla="val 18665"/>
            </a:avLst>
          </a:prstGeom>
          <a:solidFill>
            <a:srgbClr val="F59E0B">
              <a:alpha val="13000"/>
            </a:srgbClr>
          </a:solidFill>
          <a:ln w="9525">
            <a:solidFill>
              <a:srgbClr val="F59E0B">
                <a:alpha val="22000"/>
              </a:srgbClr>
            </a:solidFill>
          </a:ln>
        </p:spPr>
        <p:txBody>
          <a:bodyPr wrap="none" lIns="242511" tIns="43180" rIns="86360" bIns="43180" rtlCol="0" anchor="ctr"/>
          <a:lstStyle/>
          <a:p>
            <a:pPr marL="0" indent="0" algn="l">
              <a:buNone/>
            </a:pPr>
            <a:r>
              <a:rPr lang="en-US" sz="840" b="1" kern="0" spc="67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RISKS WITHOUT GOVERNANCE</a:t>
            </a:r>
            <a:endParaRPr lang="en-US" sz="84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808" y="1047387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0566" y="1339007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F59E0B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80566" y="1339007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F59E0B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70607" y="1403747"/>
            <a:ext cx="157460" cy="157460"/>
          </a:xfrm>
          <a:prstGeom prst="ellipse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69" y="1416109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9058" y="1396157"/>
            <a:ext cx="1745813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in critical decisions</a:t>
            </a:r>
            <a:endParaRPr lang="en-US" sz="840" dirty="0"/>
          </a:p>
        </p:txBody>
      </p:sp>
      <p:sp>
        <p:nvSpPr>
          <p:cNvPr id="22" name="Text 17"/>
          <p:cNvSpPr/>
          <p:nvPr/>
        </p:nvSpPr>
        <p:spPr>
          <a:xfrm>
            <a:off x="480566" y="1667768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F59E0B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80566" y="1667768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F59E0B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70607" y="1732508"/>
            <a:ext cx="157460" cy="157460"/>
          </a:xfrm>
          <a:prstGeom prst="ellipse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969" y="1744870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99058" y="1724918"/>
            <a:ext cx="1218501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violations</a:t>
            </a:r>
            <a:endParaRPr lang="en-US" sz="840" dirty="0"/>
          </a:p>
        </p:txBody>
      </p:sp>
      <p:sp>
        <p:nvSpPr>
          <p:cNvPr id="27" name="Text 21"/>
          <p:cNvSpPr/>
          <p:nvPr/>
        </p:nvSpPr>
        <p:spPr>
          <a:xfrm>
            <a:off x="480566" y="1996529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F59E0B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80566" y="1996529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F59E0B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70607" y="2061270"/>
            <a:ext cx="157460" cy="157460"/>
          </a:xfrm>
          <a:prstGeom prst="ellipse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969" y="2073631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9058" y="2053679"/>
            <a:ext cx="178494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Unexplainable black-box outputs</a:t>
            </a:r>
            <a:endParaRPr lang="en-US" sz="840" dirty="0"/>
          </a:p>
        </p:txBody>
      </p:sp>
      <p:sp>
        <p:nvSpPr>
          <p:cNvPr id="32" name="Text 25"/>
          <p:cNvSpPr/>
          <p:nvPr/>
        </p:nvSpPr>
        <p:spPr>
          <a:xfrm>
            <a:off x="480566" y="2325291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F59E0B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80566" y="2325291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F59E0B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570607" y="2390031"/>
            <a:ext cx="157460" cy="157460"/>
          </a:xfrm>
          <a:prstGeom prst="ellipse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969" y="2402393"/>
            <a:ext cx="132588" cy="132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99058" y="2382441"/>
            <a:ext cx="1289878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amplification</a:t>
            </a:r>
            <a:endParaRPr lang="en-US" sz="840" dirty="0"/>
          </a:p>
        </p:txBody>
      </p:sp>
      <p:sp>
        <p:nvSpPr>
          <p:cNvPr id="37" name="Text 29"/>
          <p:cNvSpPr/>
          <p:nvPr/>
        </p:nvSpPr>
        <p:spPr>
          <a:xfrm>
            <a:off x="480566" y="2654052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F59E0B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80566" y="2654052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F59E0B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570607" y="2718792"/>
            <a:ext cx="157460" cy="157460"/>
          </a:xfrm>
          <a:prstGeom prst="ellipse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969" y="2731154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9058" y="2711202"/>
            <a:ext cx="1472416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non-compliance</a:t>
            </a:r>
            <a:endParaRPr lang="en-US" sz="840" dirty="0"/>
          </a:p>
        </p:txBody>
      </p:sp>
      <p:sp>
        <p:nvSpPr>
          <p:cNvPr id="42" name="Text 33"/>
          <p:cNvSpPr/>
          <p:nvPr/>
        </p:nvSpPr>
        <p:spPr>
          <a:xfrm>
            <a:off x="4566940" y="843409"/>
            <a:ext cx="10120" cy="153069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30000"/>
                </a:srgbClr>
              </a:gs>
              <a:gs pos="50000">
                <a:srgbClr val="00C9FF">
                  <a:alpha val="50000"/>
                </a:srgbClr>
              </a:gs>
              <a:gs pos="8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4215259" y="2445097"/>
            <a:ext cx="713333" cy="582364"/>
          </a:xfrm>
          <a:prstGeom prst="roundRect">
            <a:avLst>
              <a:gd name="adj" fmla="val 14829"/>
            </a:avLst>
          </a:prstGeom>
          <a:gradFill rotWithShape="1">
            <a:gsLst>
              <a:gs pos="0">
                <a:srgbClr val="00C9FF">
                  <a:alpha val="18000"/>
                </a:srgbClr>
              </a:gs>
              <a:gs pos="80000">
                <a:srgbClr val="050D1A">
                  <a:alpha val="90000"/>
                </a:srgbClr>
              </a:gs>
            </a:gsLst>
            <a:path path="circle">
              <a:fillToRect l="50000" t="60000" r="50000" b="40000"/>
            </a:path>
          </a:gradFill>
          <a:ln w="9525">
            <a:solidFill>
              <a:srgbClr val="00C9FF">
                <a:alpha val="40000"/>
              </a:srgbClr>
            </a:solidFill>
          </a:ln>
          <a:effectLst>
            <a:outerShdw blurRad="157480" dist="50800" dir="16200000" algn="bl" rotWithShape="0">
              <a:srgbClr val="00C9FF">
                <a:alpha val="2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75262" y="2525613"/>
            <a:ext cx="193328" cy="19332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276134" y="2762101"/>
            <a:ext cx="591583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AIGOVERN­ANCE</a:t>
            </a:r>
            <a:endParaRPr lang="en-US" sz="560" dirty="0"/>
          </a:p>
        </p:txBody>
      </p:sp>
      <p:sp>
        <p:nvSpPr>
          <p:cNvPr id="46" name="Text 36"/>
          <p:cNvSpPr/>
          <p:nvPr/>
        </p:nvSpPr>
        <p:spPr>
          <a:xfrm>
            <a:off x="4566940" y="3098453"/>
            <a:ext cx="10120" cy="153069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30000"/>
                </a:srgbClr>
              </a:gs>
              <a:gs pos="50000">
                <a:srgbClr val="00C9FF">
                  <a:alpha val="50000"/>
                </a:srgbClr>
              </a:gs>
              <a:gs pos="8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4943475" y="843409"/>
            <a:ext cx="3857625" cy="3785741"/>
          </a:xfrm>
          <a:prstGeom prst="roundRect">
            <a:avLst>
              <a:gd name="adj" fmla="val 2650"/>
            </a:avLst>
          </a:prstGeom>
          <a:gradFill rotWithShape="1">
            <a:gsLst>
              <a:gs pos="0">
                <a:srgbClr val="00C9FF">
                  <a:alpha val="8000"/>
                </a:srgbClr>
              </a:gs>
              <a:gs pos="100000">
                <a:srgbClr val="0D1F3A">
                  <a:alpha val="70000"/>
                </a:srgbClr>
              </a:gs>
            </a:gsLst>
            <a:lin ang="4200000" scaled="1"/>
          </a:gradFill>
          <a:ln w="9525">
            <a:solidFill>
              <a:srgbClr val="00C9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5081141" y="981075"/>
            <a:ext cx="3653939" cy="265361"/>
          </a:xfrm>
          <a:prstGeom prst="roundRect">
            <a:avLst>
              <a:gd name="adj" fmla="val 18665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2000"/>
              </a:srgbClr>
            </a:solidFill>
          </a:ln>
        </p:spPr>
        <p:txBody>
          <a:bodyPr wrap="none" lIns="242511" tIns="43180" rIns="86360" bIns="43180" rtlCol="0" anchor="ctr"/>
          <a:lstStyle/>
          <a:p>
            <a:pPr marL="0" indent="0" algn="l">
              <a:buNone/>
            </a:pPr>
            <a:r>
              <a:rPr lang="en-US" sz="840" b="1" kern="0" spc="67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AI-NATIVE BEST PRACTICES</a:t>
            </a:r>
            <a:endParaRPr lang="en-US" sz="84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6383" y="1047387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81141" y="1339007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00C9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0"/>
          <p:cNvSpPr/>
          <p:nvPr/>
        </p:nvSpPr>
        <p:spPr>
          <a:xfrm>
            <a:off x="5081141" y="1339007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00C9FF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1"/>
          <p:cNvSpPr/>
          <p:nvPr/>
        </p:nvSpPr>
        <p:spPr>
          <a:xfrm>
            <a:off x="5171182" y="1403747"/>
            <a:ext cx="157460" cy="157460"/>
          </a:xfrm>
          <a:prstGeom prst="ellipse">
            <a:avLst/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3544" y="1416109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399633" y="1396157"/>
            <a:ext cx="2116946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validation workflows</a:t>
            </a:r>
            <a:endParaRPr lang="en-US" sz="840" dirty="0"/>
          </a:p>
        </p:txBody>
      </p:sp>
      <p:sp>
        <p:nvSpPr>
          <p:cNvPr id="55" name="Text 43"/>
          <p:cNvSpPr/>
          <p:nvPr/>
        </p:nvSpPr>
        <p:spPr>
          <a:xfrm>
            <a:off x="5081141" y="1667768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00C9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4"/>
          <p:cNvSpPr/>
          <p:nvPr/>
        </p:nvSpPr>
        <p:spPr>
          <a:xfrm>
            <a:off x="5081141" y="1667768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00C9FF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5171182" y="1732508"/>
            <a:ext cx="157460" cy="157460"/>
          </a:xfrm>
          <a:prstGeom prst="ellipse">
            <a:avLst/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83544" y="1744870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399633" y="1724918"/>
            <a:ext cx="1980575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with data masking</a:t>
            </a:r>
            <a:endParaRPr lang="en-US" sz="840" dirty="0"/>
          </a:p>
        </p:txBody>
      </p:sp>
      <p:sp>
        <p:nvSpPr>
          <p:cNvPr id="60" name="Text 47"/>
          <p:cNvSpPr/>
          <p:nvPr/>
        </p:nvSpPr>
        <p:spPr>
          <a:xfrm>
            <a:off x="5081141" y="1996529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00C9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5081141" y="1996529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00C9FF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9"/>
          <p:cNvSpPr/>
          <p:nvPr/>
        </p:nvSpPr>
        <p:spPr>
          <a:xfrm>
            <a:off x="5171182" y="2061270"/>
            <a:ext cx="157460" cy="157460"/>
          </a:xfrm>
          <a:prstGeom prst="ellipse">
            <a:avLst/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3544" y="2073631"/>
            <a:ext cx="132588" cy="13258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5399633" y="2053679"/>
            <a:ext cx="19524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layers — SHAP, LIME</a:t>
            </a:r>
            <a:endParaRPr lang="en-US" sz="840" dirty="0"/>
          </a:p>
        </p:txBody>
      </p:sp>
      <p:sp>
        <p:nvSpPr>
          <p:cNvPr id="65" name="Text 51"/>
          <p:cNvSpPr/>
          <p:nvPr/>
        </p:nvSpPr>
        <p:spPr>
          <a:xfrm>
            <a:off x="5081141" y="2325291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00C9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2"/>
          <p:cNvSpPr/>
          <p:nvPr/>
        </p:nvSpPr>
        <p:spPr>
          <a:xfrm>
            <a:off x="5081141" y="2325291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00C9FF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3"/>
          <p:cNvSpPr/>
          <p:nvPr/>
        </p:nvSpPr>
        <p:spPr>
          <a:xfrm>
            <a:off x="5171182" y="2390031"/>
            <a:ext cx="157460" cy="157460"/>
          </a:xfrm>
          <a:prstGeom prst="ellipse">
            <a:avLst/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83544" y="2402393"/>
            <a:ext cx="132588" cy="132588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5399633" y="2382441"/>
            <a:ext cx="1674435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 and fairness testing</a:t>
            </a:r>
            <a:endParaRPr lang="en-US" sz="840" dirty="0"/>
          </a:p>
        </p:txBody>
      </p:sp>
      <p:sp>
        <p:nvSpPr>
          <p:cNvPr id="70" name="Text 55"/>
          <p:cNvSpPr/>
          <p:nvPr/>
        </p:nvSpPr>
        <p:spPr>
          <a:xfrm>
            <a:off x="5081141" y="2654052"/>
            <a:ext cx="3582293" cy="279350"/>
          </a:xfrm>
          <a:prstGeom prst="roundRect">
            <a:avLst>
              <a:gd name="adj" fmla="val 20458"/>
            </a:avLst>
          </a:prstGeom>
          <a:solidFill>
            <a:srgbClr val="00C9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6"/>
          <p:cNvSpPr/>
          <p:nvPr/>
        </p:nvSpPr>
        <p:spPr>
          <a:xfrm>
            <a:off x="5081141" y="2654052"/>
            <a:ext cx="19050" cy="279350"/>
          </a:xfrm>
          <a:custGeom>
            <a:avLst/>
            <a:gdLst/>
            <a:ahLst/>
            <a:cxnLst/>
            <a:rect l="l" t="t" r="r" b="b"/>
            <a:pathLst>
              <a:path w="19050" h="27935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64797"/>
                </a:lnTo>
                <a:lnTo>
                  <a:pt x="16669" y="262541"/>
                </a:lnTo>
                <a:lnTo>
                  <a:pt x="14288" y="260002"/>
                </a:lnTo>
                <a:lnTo>
                  <a:pt x="11906" y="257116"/>
                </a:lnTo>
                <a:lnTo>
                  <a:pt x="9525" y="253791"/>
                </a:lnTo>
                <a:lnTo>
                  <a:pt x="7144" y="249868"/>
                </a:lnTo>
                <a:lnTo>
                  <a:pt x="4763" y="245041"/>
                </a:lnTo>
                <a:lnTo>
                  <a:pt x="2381" y="238525"/>
                </a:lnTo>
                <a:lnTo>
                  <a:pt x="0" y="222200"/>
                </a:lnTo>
                <a:close/>
              </a:path>
            </a:pathLst>
          </a:custGeom>
          <a:solidFill>
            <a:srgbClr val="00C9FF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7"/>
          <p:cNvSpPr/>
          <p:nvPr/>
        </p:nvSpPr>
        <p:spPr>
          <a:xfrm>
            <a:off x="5171182" y="2718792"/>
            <a:ext cx="157460" cy="157460"/>
          </a:xfrm>
          <a:prstGeom prst="ellipse">
            <a:avLst/>
          </a:prstGeom>
          <a:solidFill>
            <a:srgbClr val="00C9FF">
              <a:alpha val="13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83544" y="2731154"/>
            <a:ext cx="132588" cy="13258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5399633" y="2711202"/>
            <a:ext cx="1958801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HIPAA compliant AI pipelines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7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90000" r="9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9FF">
                  <a:alpha val="5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C9FF">
                  <a:alpha val="60000"/>
                </a:srgbClr>
              </a:gs>
              <a:gs pos="66667">
                <a:srgbClr val="00C9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036439"/>
            <a:ext cx="21580" cy="594270"/>
          </a:xfrm>
          <a:custGeom>
            <a:avLst/>
            <a:gdLst/>
            <a:ahLst/>
            <a:cxnLst/>
            <a:rect l="l" t="t" r="r" b="b"/>
            <a:pathLst>
              <a:path w="21580" h="594270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74178"/>
                </a:lnTo>
                <a:lnTo>
                  <a:pt x="18883" y="571413"/>
                </a:lnTo>
                <a:lnTo>
                  <a:pt x="16185" y="568319"/>
                </a:lnTo>
                <a:lnTo>
                  <a:pt x="13488" y="564822"/>
                </a:lnTo>
                <a:lnTo>
                  <a:pt x="10790" y="560811"/>
                </a:lnTo>
                <a:lnTo>
                  <a:pt x="8093" y="556099"/>
                </a:lnTo>
                <a:lnTo>
                  <a:pt x="5395" y="550322"/>
                </a:lnTo>
                <a:lnTo>
                  <a:pt x="2698" y="542552"/>
                </a:lnTo>
                <a:lnTo>
                  <a:pt x="0" y="523150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9FF">
                <a:alpha val="7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23346" y="1036439"/>
            <a:ext cx="21580" cy="594270"/>
          </a:xfrm>
          <a:custGeom>
            <a:avLst/>
            <a:gdLst/>
            <a:ahLst/>
            <a:cxnLst/>
            <a:rect l="l" t="t" r="r" b="b"/>
            <a:pathLst>
              <a:path w="21580" h="594270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74178"/>
                </a:lnTo>
                <a:lnTo>
                  <a:pt x="18883" y="571413"/>
                </a:lnTo>
                <a:lnTo>
                  <a:pt x="16185" y="568319"/>
                </a:lnTo>
                <a:lnTo>
                  <a:pt x="13488" y="564822"/>
                </a:lnTo>
                <a:lnTo>
                  <a:pt x="10790" y="560811"/>
                </a:lnTo>
                <a:lnTo>
                  <a:pt x="8093" y="556099"/>
                </a:lnTo>
                <a:lnTo>
                  <a:pt x="5395" y="550322"/>
                </a:lnTo>
                <a:lnTo>
                  <a:pt x="2698" y="542552"/>
                </a:lnTo>
                <a:lnTo>
                  <a:pt x="0" y="523150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9FF">
                <a:alpha val="7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1714500"/>
            <a:ext cx="21580" cy="594270"/>
          </a:xfrm>
          <a:custGeom>
            <a:avLst/>
            <a:gdLst/>
            <a:ahLst/>
            <a:cxnLst/>
            <a:rect l="l" t="t" r="r" b="b"/>
            <a:pathLst>
              <a:path w="21580" h="594270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74178"/>
                </a:lnTo>
                <a:lnTo>
                  <a:pt x="18883" y="571413"/>
                </a:lnTo>
                <a:lnTo>
                  <a:pt x="16185" y="568319"/>
                </a:lnTo>
                <a:lnTo>
                  <a:pt x="13488" y="564822"/>
                </a:lnTo>
                <a:lnTo>
                  <a:pt x="10790" y="560811"/>
                </a:lnTo>
                <a:lnTo>
                  <a:pt x="8093" y="556099"/>
                </a:lnTo>
                <a:lnTo>
                  <a:pt x="5395" y="550322"/>
                </a:lnTo>
                <a:lnTo>
                  <a:pt x="2698" y="542552"/>
                </a:lnTo>
                <a:lnTo>
                  <a:pt x="0" y="523150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9FF">
                <a:alpha val="7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23346" y="1714500"/>
            <a:ext cx="21580" cy="594270"/>
          </a:xfrm>
          <a:custGeom>
            <a:avLst/>
            <a:gdLst/>
            <a:ahLst/>
            <a:cxnLst/>
            <a:rect l="l" t="t" r="r" b="b"/>
            <a:pathLst>
              <a:path w="21580" h="594270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74178"/>
                </a:lnTo>
                <a:lnTo>
                  <a:pt x="18883" y="571413"/>
                </a:lnTo>
                <a:lnTo>
                  <a:pt x="16185" y="568319"/>
                </a:lnTo>
                <a:lnTo>
                  <a:pt x="13488" y="564822"/>
                </a:lnTo>
                <a:lnTo>
                  <a:pt x="10790" y="560811"/>
                </a:lnTo>
                <a:lnTo>
                  <a:pt x="8093" y="556099"/>
                </a:lnTo>
                <a:lnTo>
                  <a:pt x="5395" y="550322"/>
                </a:lnTo>
                <a:lnTo>
                  <a:pt x="2698" y="542552"/>
                </a:lnTo>
                <a:lnTo>
                  <a:pt x="0" y="523150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9FF">
                <a:alpha val="7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392561"/>
            <a:ext cx="21580" cy="473572"/>
          </a:xfrm>
          <a:custGeom>
            <a:avLst/>
            <a:gdLst/>
            <a:ahLst/>
            <a:cxnLst/>
            <a:rect l="l" t="t" r="r" b="b"/>
            <a:pathLst>
              <a:path w="21580" h="47357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3479"/>
                </a:lnTo>
                <a:lnTo>
                  <a:pt x="18883" y="450714"/>
                </a:lnTo>
                <a:lnTo>
                  <a:pt x="16185" y="447620"/>
                </a:lnTo>
                <a:lnTo>
                  <a:pt x="13488" y="444124"/>
                </a:lnTo>
                <a:lnTo>
                  <a:pt x="10790" y="440112"/>
                </a:lnTo>
                <a:lnTo>
                  <a:pt x="8093" y="435400"/>
                </a:lnTo>
                <a:lnTo>
                  <a:pt x="5395" y="429623"/>
                </a:lnTo>
                <a:lnTo>
                  <a:pt x="2698" y="421853"/>
                </a:lnTo>
                <a:lnTo>
                  <a:pt x="0" y="402452"/>
                </a:lnTo>
                <a:close/>
              </a:path>
            </a:pathLst>
          </a:cu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9FF">
                <a:alpha val="7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57770"/>
            <a:ext cx="2367327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2480" b="1" kern="0" spc="-30" dirty="0">
                <a:solidFill>
                  <a:srgbClr val="E8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480" dirty="0"/>
          </a:p>
        </p:txBody>
      </p:sp>
      <p:sp>
        <p:nvSpPr>
          <p:cNvPr id="12" name="Text 10"/>
          <p:cNvSpPr/>
          <p:nvPr/>
        </p:nvSpPr>
        <p:spPr>
          <a:xfrm>
            <a:off x="400050" y="647254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20000"/>
                </a:srgbClr>
              </a:gs>
            </a:gsLst>
            <a:lin ang="0" scaled="1"/>
          </a:gradFill>
          <a:ln/>
          <a:effectLst>
            <a:outerShdw blurRad="7112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711994"/>
            <a:ext cx="24800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home from today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62391" y="257770"/>
            <a:ext cx="1307190" cy="195411"/>
          </a:xfrm>
          <a:prstGeom prst="roundRect">
            <a:avLst>
              <a:gd name="adj" fmla="val 73440"/>
            </a:avLst>
          </a:prstGeom>
          <a:solidFill>
            <a:srgbClr val="00C9FF">
              <a:alpha val="10000"/>
            </a:srgbClr>
          </a:solidFill>
          <a:ln w="9525">
            <a:solidFill>
              <a:srgbClr val="00C9FF">
                <a:alpha val="25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· KEYNOTE</a:t>
            </a:r>
            <a:endParaRPr lang="en-US" sz="62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312" y="289182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00050" y="1026914"/>
            <a:ext cx="4139505" cy="613321"/>
          </a:xfrm>
          <a:prstGeom prst="roundRect">
            <a:avLst>
              <a:gd name="adj" fmla="val 11596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00050" y="1026914"/>
            <a:ext cx="19050" cy="613321"/>
          </a:xfrm>
          <a:custGeom>
            <a:avLst/>
            <a:gdLst/>
            <a:ahLst/>
            <a:cxnLst/>
            <a:rect l="l" t="t" r="r" b="b"/>
            <a:pathLst>
              <a:path w="19050" h="61332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644"/>
                </a:lnTo>
                <a:lnTo>
                  <a:pt x="16669" y="587951"/>
                </a:lnTo>
                <a:lnTo>
                  <a:pt x="14288" y="584957"/>
                </a:lnTo>
                <a:lnTo>
                  <a:pt x="11906" y="581593"/>
                </a:lnTo>
                <a:lnTo>
                  <a:pt x="9525" y="577755"/>
                </a:lnTo>
                <a:lnTo>
                  <a:pt x="7144" y="573267"/>
                </a:lnTo>
                <a:lnTo>
                  <a:pt x="4763" y="567788"/>
                </a:lnTo>
                <a:lnTo>
                  <a:pt x="2381" y="560450"/>
                </a:lnTo>
                <a:lnTo>
                  <a:pt x="0" y="542201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5592" y="1142851"/>
            <a:ext cx="2387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C9FF"/>
                </a:solidFill>
                <a:effectLst>
                  <a:glow rad="285750">
                    <a:srgbClr val="00C9FF">
                      <a:alpha val="21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80" dirty="0"/>
          </a:p>
        </p:txBody>
      </p:sp>
      <p:sp>
        <p:nvSpPr>
          <p:cNvPr id="19" name="Text 16"/>
          <p:cNvSpPr/>
          <p:nvPr/>
        </p:nvSpPr>
        <p:spPr>
          <a:xfrm>
            <a:off x="870793" y="114285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799" y="1190857"/>
            <a:ext cx="132588" cy="132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42864" y="1129010"/>
            <a:ext cx="347492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is Architecture, Not an Add-On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1242864" y="1278582"/>
            <a:ext cx="3222206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your system layers to treat intelligence as infrastructure — not a feature bolted on top</a:t>
            </a:r>
            <a:endParaRPr lang="en-US" sz="730" dirty="0"/>
          </a:p>
        </p:txBody>
      </p:sp>
      <p:sp>
        <p:nvSpPr>
          <p:cNvPr id="23" name="Text 19"/>
          <p:cNvSpPr/>
          <p:nvPr/>
        </p:nvSpPr>
        <p:spPr>
          <a:xfrm>
            <a:off x="4604296" y="1026914"/>
            <a:ext cx="4139654" cy="613321"/>
          </a:xfrm>
          <a:prstGeom prst="roundRect">
            <a:avLst>
              <a:gd name="adj" fmla="val 11596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604296" y="1026914"/>
            <a:ext cx="19050" cy="613321"/>
          </a:xfrm>
          <a:custGeom>
            <a:avLst/>
            <a:gdLst/>
            <a:ahLst/>
            <a:cxnLst/>
            <a:rect l="l" t="t" r="r" b="b"/>
            <a:pathLst>
              <a:path w="19050" h="61332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644"/>
                </a:lnTo>
                <a:lnTo>
                  <a:pt x="16669" y="587951"/>
                </a:lnTo>
                <a:lnTo>
                  <a:pt x="14288" y="584957"/>
                </a:lnTo>
                <a:lnTo>
                  <a:pt x="11906" y="581593"/>
                </a:lnTo>
                <a:lnTo>
                  <a:pt x="9525" y="577755"/>
                </a:lnTo>
                <a:lnTo>
                  <a:pt x="7144" y="573267"/>
                </a:lnTo>
                <a:lnTo>
                  <a:pt x="4763" y="567788"/>
                </a:lnTo>
                <a:lnTo>
                  <a:pt x="2381" y="560450"/>
                </a:lnTo>
                <a:lnTo>
                  <a:pt x="0" y="542201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29837" y="1142851"/>
            <a:ext cx="2387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C9FF"/>
                </a:solidFill>
                <a:effectLst>
                  <a:glow rad="285750">
                    <a:srgbClr val="00C9FF">
                      <a:alpha val="21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80" dirty="0"/>
          </a:p>
        </p:txBody>
      </p:sp>
      <p:sp>
        <p:nvSpPr>
          <p:cNvPr id="26" name="Text 22"/>
          <p:cNvSpPr/>
          <p:nvPr/>
        </p:nvSpPr>
        <p:spPr>
          <a:xfrm>
            <a:off x="5075039" y="114285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3045" y="1190857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47109" y="1129010"/>
            <a:ext cx="347509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Spring Boot = Proven Foundation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5447109" y="1278582"/>
            <a:ext cx="3222358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battle-tested enterprise frameworks with modern AI services for a robust, scalable platform</a:t>
            </a:r>
            <a:endParaRPr lang="en-US" sz="730" dirty="0"/>
          </a:p>
        </p:txBody>
      </p:sp>
      <p:sp>
        <p:nvSpPr>
          <p:cNvPr id="30" name="Text 25"/>
          <p:cNvSpPr/>
          <p:nvPr/>
        </p:nvSpPr>
        <p:spPr>
          <a:xfrm>
            <a:off x="400050" y="1704975"/>
            <a:ext cx="4139505" cy="613321"/>
          </a:xfrm>
          <a:prstGeom prst="roundRect">
            <a:avLst>
              <a:gd name="adj" fmla="val 11596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00050" y="1704975"/>
            <a:ext cx="19050" cy="613321"/>
          </a:xfrm>
          <a:custGeom>
            <a:avLst/>
            <a:gdLst/>
            <a:ahLst/>
            <a:cxnLst/>
            <a:rect l="l" t="t" r="r" b="b"/>
            <a:pathLst>
              <a:path w="19050" h="61332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644"/>
                </a:lnTo>
                <a:lnTo>
                  <a:pt x="16669" y="587951"/>
                </a:lnTo>
                <a:lnTo>
                  <a:pt x="14288" y="584957"/>
                </a:lnTo>
                <a:lnTo>
                  <a:pt x="11906" y="581593"/>
                </a:lnTo>
                <a:lnTo>
                  <a:pt x="9525" y="577755"/>
                </a:lnTo>
                <a:lnTo>
                  <a:pt x="7144" y="573267"/>
                </a:lnTo>
                <a:lnTo>
                  <a:pt x="4763" y="567788"/>
                </a:lnTo>
                <a:lnTo>
                  <a:pt x="2381" y="560450"/>
                </a:lnTo>
                <a:lnTo>
                  <a:pt x="0" y="542201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25592" y="1820912"/>
            <a:ext cx="2387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C9FF"/>
                </a:solidFill>
                <a:effectLst>
                  <a:glow rad="285750">
                    <a:srgbClr val="00C9FF">
                      <a:alpha val="21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80" dirty="0"/>
          </a:p>
        </p:txBody>
      </p:sp>
      <p:sp>
        <p:nvSpPr>
          <p:cNvPr id="33" name="Text 28"/>
          <p:cNvSpPr/>
          <p:nvPr/>
        </p:nvSpPr>
        <p:spPr>
          <a:xfrm>
            <a:off x="870793" y="1820912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799" y="1868918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42864" y="1807071"/>
            <a:ext cx="347492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LLMs = Enterprise Intelligence</a:t>
            </a:r>
            <a:endParaRPr lang="en-US" sz="840" dirty="0"/>
          </a:p>
        </p:txBody>
      </p:sp>
      <p:sp>
        <p:nvSpPr>
          <p:cNvPr id="36" name="Text 30"/>
          <p:cNvSpPr/>
          <p:nvPr/>
        </p:nvSpPr>
        <p:spPr>
          <a:xfrm>
            <a:off x="1242864" y="1956643"/>
            <a:ext cx="3222206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AI with retrieval augmentation is the winning pattern — high accuracy, low hallucination</a:t>
            </a:r>
            <a:endParaRPr lang="en-US" sz="730" dirty="0"/>
          </a:p>
        </p:txBody>
      </p:sp>
      <p:sp>
        <p:nvSpPr>
          <p:cNvPr id="37" name="Text 31"/>
          <p:cNvSpPr/>
          <p:nvPr/>
        </p:nvSpPr>
        <p:spPr>
          <a:xfrm>
            <a:off x="4604296" y="1704975"/>
            <a:ext cx="4139654" cy="613321"/>
          </a:xfrm>
          <a:prstGeom prst="roundRect">
            <a:avLst>
              <a:gd name="adj" fmla="val 11596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604296" y="1704975"/>
            <a:ext cx="19050" cy="613321"/>
          </a:xfrm>
          <a:custGeom>
            <a:avLst/>
            <a:gdLst/>
            <a:ahLst/>
            <a:cxnLst/>
            <a:rect l="l" t="t" r="r" b="b"/>
            <a:pathLst>
              <a:path w="19050" h="61332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644"/>
                </a:lnTo>
                <a:lnTo>
                  <a:pt x="16669" y="587951"/>
                </a:lnTo>
                <a:lnTo>
                  <a:pt x="14288" y="584957"/>
                </a:lnTo>
                <a:lnTo>
                  <a:pt x="11906" y="581593"/>
                </a:lnTo>
                <a:lnTo>
                  <a:pt x="9525" y="577755"/>
                </a:lnTo>
                <a:lnTo>
                  <a:pt x="7144" y="573267"/>
                </a:lnTo>
                <a:lnTo>
                  <a:pt x="4763" y="567788"/>
                </a:lnTo>
                <a:lnTo>
                  <a:pt x="2381" y="560450"/>
                </a:lnTo>
                <a:lnTo>
                  <a:pt x="0" y="542201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729837" y="1820912"/>
            <a:ext cx="2387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C9FF"/>
                </a:solidFill>
                <a:effectLst>
                  <a:glow rad="285750">
                    <a:srgbClr val="00C9FF">
                      <a:alpha val="21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580" dirty="0"/>
          </a:p>
        </p:txBody>
      </p:sp>
      <p:sp>
        <p:nvSpPr>
          <p:cNvPr id="40" name="Text 34"/>
          <p:cNvSpPr/>
          <p:nvPr/>
        </p:nvSpPr>
        <p:spPr>
          <a:xfrm>
            <a:off x="5075039" y="1820912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3045" y="1868918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447109" y="1807071"/>
            <a:ext cx="347509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First, Scale Second</a:t>
            </a:r>
            <a:endParaRPr lang="en-US" sz="840" dirty="0"/>
          </a:p>
        </p:txBody>
      </p:sp>
      <p:sp>
        <p:nvSpPr>
          <p:cNvPr id="43" name="Text 36"/>
          <p:cNvSpPr/>
          <p:nvPr/>
        </p:nvSpPr>
        <p:spPr>
          <a:xfrm>
            <a:off x="5447109" y="1956643"/>
            <a:ext cx="3222358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explainability, and compliance must be built in from day one — retrofitting governance always costs more</a:t>
            </a:r>
            <a:endParaRPr lang="en-US" sz="730" dirty="0"/>
          </a:p>
        </p:txBody>
      </p:sp>
      <p:sp>
        <p:nvSpPr>
          <p:cNvPr id="44" name="Text 37"/>
          <p:cNvSpPr/>
          <p:nvPr/>
        </p:nvSpPr>
        <p:spPr>
          <a:xfrm>
            <a:off x="400050" y="2383036"/>
            <a:ext cx="8343900" cy="492621"/>
          </a:xfrm>
          <a:prstGeom prst="roundRect">
            <a:avLst>
              <a:gd name="adj" fmla="val 14437"/>
            </a:avLst>
          </a:prstGeom>
          <a:solidFill>
            <a:srgbClr val="0D1F3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00050" y="2383036"/>
            <a:ext cx="19050" cy="492621"/>
          </a:xfrm>
          <a:custGeom>
            <a:avLst/>
            <a:gdLst/>
            <a:ahLst/>
            <a:cxnLst/>
            <a:rect l="l" t="t" r="r" b="b"/>
            <a:pathLst>
              <a:path w="19050" h="49262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9945"/>
                </a:lnTo>
                <a:lnTo>
                  <a:pt x="16669" y="467252"/>
                </a:lnTo>
                <a:lnTo>
                  <a:pt x="14288" y="464258"/>
                </a:lnTo>
                <a:lnTo>
                  <a:pt x="11906" y="460894"/>
                </a:lnTo>
                <a:lnTo>
                  <a:pt x="9525" y="457055"/>
                </a:lnTo>
                <a:lnTo>
                  <a:pt x="7144" y="452567"/>
                </a:lnTo>
                <a:lnTo>
                  <a:pt x="4763" y="447089"/>
                </a:lnTo>
                <a:lnTo>
                  <a:pt x="2381" y="439750"/>
                </a:lnTo>
                <a:lnTo>
                  <a:pt x="0" y="421501"/>
                </a:lnTo>
                <a:close/>
              </a:path>
            </a:pathLst>
          </a:custGeom>
          <a:solidFill>
            <a:srgbClr val="00C9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525592" y="2498973"/>
            <a:ext cx="2387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C9FF"/>
                </a:solidFill>
                <a:effectLst>
                  <a:glow rad="285750">
                    <a:srgbClr val="00C9FF">
                      <a:alpha val="21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580" dirty="0"/>
          </a:p>
        </p:txBody>
      </p:sp>
      <p:sp>
        <p:nvSpPr>
          <p:cNvPr id="47" name="Text 40"/>
          <p:cNvSpPr/>
          <p:nvPr/>
        </p:nvSpPr>
        <p:spPr>
          <a:xfrm>
            <a:off x="870793" y="249897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C9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8799" y="2546979"/>
            <a:ext cx="132588" cy="13258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242864" y="2485132"/>
            <a:ext cx="522450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Think Big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1242864" y="2643783"/>
            <a:ext cx="522450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high-value AI use case, prove it with measurable outcomes, then scale the pattern across the enterprise</a:t>
            </a:r>
            <a:endParaRPr lang="en-US" sz="730" dirty="0"/>
          </a:p>
        </p:txBody>
      </p:sp>
      <p:sp>
        <p:nvSpPr>
          <p:cNvPr id="51" name="Text 43"/>
          <p:cNvSpPr/>
          <p:nvPr/>
        </p:nvSpPr>
        <p:spPr>
          <a:xfrm>
            <a:off x="7631162" y="2600771"/>
            <a:ext cx="57150" cy="57150"/>
          </a:xfrm>
          <a:prstGeom prst="ellipse">
            <a:avLst/>
          </a:prstGeom>
          <a:solidFill>
            <a:srgbClr val="00C9FF">
              <a:alpha val="70000"/>
            </a:srgbClr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7731472" y="2625477"/>
            <a:ext cx="257770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8032403" y="2586186"/>
            <a:ext cx="86320" cy="86320"/>
          </a:xfrm>
          <a:prstGeom prst="ellipse">
            <a:avLst/>
          </a:prstGeom>
          <a:solidFill>
            <a:srgbClr val="00C9FF">
              <a:alpha val="21000"/>
            </a:srgbClr>
          </a:solidFill>
          <a:ln w="9525">
            <a:solidFill>
              <a:srgbClr val="00C9FF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8161883" y="2625477"/>
            <a:ext cx="257770" cy="7590"/>
          </a:xfrm>
          <a:prstGeom prst="rect">
            <a:avLst/>
          </a:prstGeom>
          <a:gradFill rotWithShape="1">
            <a:gsLst>
              <a:gs pos="0">
                <a:srgbClr val="00C9FF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8462814" y="2557611"/>
            <a:ext cx="143470" cy="143470"/>
          </a:xfrm>
          <a:prstGeom prst="ellipse">
            <a:avLst/>
          </a:prstGeom>
          <a:solidFill>
            <a:srgbClr val="00C9FF">
              <a:alpha val="14000"/>
            </a:srgbClr>
          </a:solidFill>
          <a:ln w="9525">
            <a:solidFill>
              <a:srgbClr val="00C9FF">
                <a:alpha val="6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8255" y="2563052"/>
            <a:ext cx="132588" cy="1325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2392114" y="4866382"/>
            <a:ext cx="342900" cy="759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6408837" y="4866382"/>
            <a:ext cx="342900" cy="759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9FF">
                  <a:alpha val="30000"/>
                </a:srgbClr>
              </a:gs>
              <a:gs pos="50000">
                <a:srgbClr val="00C9FF">
                  <a:alpha val="90000"/>
                </a:srgbClr>
              </a:gs>
              <a:gs pos="80000">
                <a:srgbClr val="00C9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10536" y="214610"/>
            <a:ext cx="1975693" cy="256877"/>
          </a:xfrm>
          <a:prstGeom prst="roundRect">
            <a:avLst>
              <a:gd name="adj" fmla="val 66744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8202" y="314474"/>
            <a:ext cx="57150" cy="57150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62502" y="273546"/>
            <a:ext cx="17446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ICIVC 2026  ·  Keynote Speaker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257770" y="4920109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C9FF"/>
              </a:gs>
              <a:gs pos="100000">
                <a:srgbClr val="00C9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9382" y="4868019"/>
            <a:ext cx="34308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CC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IMAGE, VISION &amp; COMPUTING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8413403" y="4868019"/>
            <a:ext cx="52011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62" dirty="0">
                <a:solidFill>
                  <a:srgbClr val="7A9CC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617315" y="3002756"/>
            <a:ext cx="1910058" cy="7590"/>
          </a:xfrm>
          <a:custGeom>
            <a:avLst/>
            <a:gdLst/>
            <a:ahLst/>
            <a:cxnLst/>
            <a:rect l="l" t="t" r="r" b="b"/>
            <a:pathLst>
              <a:path w="1910058" h="7590">
                <a:moveTo>
                  <a:pt x="100330" y="0"/>
                </a:moveTo>
                <a:lnTo>
                  <a:pt x="1809728" y="0"/>
                </a:lnTo>
                <a:lnTo>
                  <a:pt x="1823493" y="949"/>
                </a:lnTo>
                <a:lnTo>
                  <a:pt x="1829149" y="1898"/>
                </a:lnTo>
                <a:lnTo>
                  <a:pt x="1833457" y="2846"/>
                </a:lnTo>
                <a:lnTo>
                  <a:pt x="1837062" y="3795"/>
                </a:lnTo>
                <a:lnTo>
                  <a:pt x="1840214" y="4744"/>
                </a:lnTo>
                <a:lnTo>
                  <a:pt x="1843043" y="5693"/>
                </a:lnTo>
                <a:lnTo>
                  <a:pt x="1845625" y="6641"/>
                </a:lnTo>
                <a:lnTo>
                  <a:pt x="1848009" y="7590"/>
                </a:lnTo>
                <a:lnTo>
                  <a:pt x="62049" y="7590"/>
                </a:lnTo>
                <a:lnTo>
                  <a:pt x="64433" y="6641"/>
                </a:lnTo>
                <a:lnTo>
                  <a:pt x="67015" y="5693"/>
                </a:lnTo>
                <a:lnTo>
                  <a:pt x="69844" y="4744"/>
                </a:lnTo>
                <a:lnTo>
                  <a:pt x="72996" y="3795"/>
                </a:lnTo>
                <a:lnTo>
                  <a:pt x="76601" y="2846"/>
                </a:lnTo>
                <a:lnTo>
                  <a:pt x="80909" y="1898"/>
                </a:lnTo>
                <a:lnTo>
                  <a:pt x="86564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89896" y="3002756"/>
            <a:ext cx="1910058" cy="7590"/>
          </a:xfrm>
          <a:custGeom>
            <a:avLst/>
            <a:gdLst/>
            <a:ahLst/>
            <a:cxnLst/>
            <a:rect l="l" t="t" r="r" b="b"/>
            <a:pathLst>
              <a:path w="1910058" h="7590">
                <a:moveTo>
                  <a:pt x="100330" y="0"/>
                </a:moveTo>
                <a:lnTo>
                  <a:pt x="1809728" y="0"/>
                </a:lnTo>
                <a:lnTo>
                  <a:pt x="1823493" y="949"/>
                </a:lnTo>
                <a:lnTo>
                  <a:pt x="1829149" y="1898"/>
                </a:lnTo>
                <a:lnTo>
                  <a:pt x="1833457" y="2846"/>
                </a:lnTo>
                <a:lnTo>
                  <a:pt x="1837062" y="3795"/>
                </a:lnTo>
                <a:lnTo>
                  <a:pt x="1840214" y="4744"/>
                </a:lnTo>
                <a:lnTo>
                  <a:pt x="1843043" y="5693"/>
                </a:lnTo>
                <a:lnTo>
                  <a:pt x="1845625" y="6641"/>
                </a:lnTo>
                <a:lnTo>
                  <a:pt x="1848009" y="7590"/>
                </a:lnTo>
                <a:lnTo>
                  <a:pt x="62049" y="7590"/>
                </a:lnTo>
                <a:lnTo>
                  <a:pt x="64433" y="6641"/>
                </a:lnTo>
                <a:lnTo>
                  <a:pt x="67015" y="5693"/>
                </a:lnTo>
                <a:lnTo>
                  <a:pt x="69844" y="4744"/>
                </a:lnTo>
                <a:lnTo>
                  <a:pt x="72996" y="3795"/>
                </a:lnTo>
                <a:lnTo>
                  <a:pt x="76601" y="2846"/>
                </a:lnTo>
                <a:lnTo>
                  <a:pt x="80909" y="1898"/>
                </a:lnTo>
                <a:lnTo>
                  <a:pt x="86564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62476" y="3002756"/>
            <a:ext cx="1764059" cy="7590"/>
          </a:xfrm>
          <a:custGeom>
            <a:avLst/>
            <a:gdLst/>
            <a:ahLst/>
            <a:cxnLst/>
            <a:rect l="l" t="t" r="r" b="b"/>
            <a:pathLst>
              <a:path w="1764059" h="7590">
                <a:moveTo>
                  <a:pt x="100330" y="0"/>
                </a:moveTo>
                <a:lnTo>
                  <a:pt x="1663729" y="0"/>
                </a:lnTo>
                <a:lnTo>
                  <a:pt x="1677494" y="949"/>
                </a:lnTo>
                <a:lnTo>
                  <a:pt x="1683150" y="1898"/>
                </a:lnTo>
                <a:lnTo>
                  <a:pt x="1687457" y="2846"/>
                </a:lnTo>
                <a:lnTo>
                  <a:pt x="1691062" y="3795"/>
                </a:lnTo>
                <a:lnTo>
                  <a:pt x="1694215" y="4744"/>
                </a:lnTo>
                <a:lnTo>
                  <a:pt x="1697044" y="5693"/>
                </a:lnTo>
                <a:lnTo>
                  <a:pt x="1699625" y="6641"/>
                </a:lnTo>
                <a:lnTo>
                  <a:pt x="1702010" y="7590"/>
                </a:lnTo>
                <a:lnTo>
                  <a:pt x="62049" y="7590"/>
                </a:lnTo>
                <a:lnTo>
                  <a:pt x="64433" y="6641"/>
                </a:lnTo>
                <a:lnTo>
                  <a:pt x="67015" y="5693"/>
                </a:lnTo>
                <a:lnTo>
                  <a:pt x="69844" y="4744"/>
                </a:lnTo>
                <a:lnTo>
                  <a:pt x="72996" y="3795"/>
                </a:lnTo>
                <a:lnTo>
                  <a:pt x="76601" y="2846"/>
                </a:lnTo>
                <a:lnTo>
                  <a:pt x="80909" y="1898"/>
                </a:lnTo>
                <a:lnTo>
                  <a:pt x="86564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2640" y="491490"/>
            <a:ext cx="7858720" cy="4000500"/>
          </a:xfrm>
          <a:prstGeom prst="ellipse">
            <a:avLst/>
          </a:prstGeom>
          <a:gradFill rotWithShape="1">
            <a:gsLst>
              <a:gs pos="0">
                <a:srgbClr val="00C9FF">
                  <a:alpha val="6000"/>
                </a:srgbClr>
              </a:gs>
              <a:gs pos="50000">
                <a:srgbClr val="0064C8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9890" y="1011245"/>
            <a:ext cx="6144220" cy="3000970"/>
          </a:xfrm>
          <a:prstGeom prst="roundRect">
            <a:avLst>
              <a:gd name="adj" fmla="val 30470"/>
            </a:avLst>
          </a:prstGeom>
          <a:gradFill rotWithShape="1">
            <a:gsLst>
              <a:gs pos="0">
                <a:srgbClr val="00C9FF">
                  <a:alpha val="18000"/>
                </a:srgbClr>
              </a:gs>
              <a:gs pos="35000">
                <a:srgbClr val="0096DC">
                  <a:alpha val="10000"/>
                </a:srgbClr>
              </a:gs>
              <a:gs pos="65000">
                <a:srgbClr val="0050A0">
                  <a:alpha val="4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57140" y="1571625"/>
            <a:ext cx="4429720" cy="2000250"/>
          </a:xfrm>
          <a:prstGeom prst="roundRect">
            <a:avLst>
              <a:gd name="adj" fmla="val 45714"/>
            </a:avLst>
          </a:prstGeom>
          <a:noFill/>
          <a:ln w="9525">
            <a:solidFill>
              <a:srgbClr val="00C9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42765" y="1214140"/>
            <a:ext cx="5858470" cy="2715220"/>
          </a:xfrm>
          <a:prstGeom prst="roundRect">
            <a:avLst>
              <a:gd name="adj" fmla="val 33677"/>
            </a:avLst>
          </a:prstGeom>
          <a:noFill/>
          <a:ln w="9525">
            <a:solidFill>
              <a:srgbClr val="00C9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65626" y="889546"/>
            <a:ext cx="5412748" cy="921990"/>
          </a:xfrm>
          <a:prstGeom prst="rect">
            <a:avLst/>
          </a:prstGeom>
          <a:noFill/>
          <a:ln/>
          <a:effectLst>
            <a:outerShdw blurRad="171450" dist="13970" dir="5400000" algn="bl" rotWithShape="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7"/>
              </a:lnSpc>
              <a:buNone/>
            </a:pPr>
            <a:r>
              <a:rPr lang="en-US" sz="2930" kern="0" spc="-29" dirty="0">
                <a:solidFill>
                  <a:srgbClr val="E8F0FF"/>
                </a:solidFill>
                <a:effectLst>
                  <a:glow rad="1073151">
                    <a:srgbClr val="00C9FF">
                      <a:alpha val="7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Next Generation of</a:t>
            </a:r>
            <a:br/>
            <a:r>
              <a:rPr lang="en-US" sz="2930" kern="0" spc="-29" dirty="0">
                <a:solidFill>
                  <a:srgbClr val="E8F0FF"/>
                </a:solidFill>
                <a:effectLst>
                  <a:glow rad="1073151">
                    <a:srgbClr val="00C9FF">
                      <a:alpha val="7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Enterprise Software is </a:t>
            </a:r>
            <a:r>
              <a:rPr lang="en-US" sz="2930" kern="0" spc="-29" dirty="0">
                <a:solidFill>
                  <a:srgbClr val="FFFFFF"/>
                </a:solidFill>
                <a:effectLst>
                  <a:glow rad="1073151">
                    <a:srgbClr val="00C9FF">
                      <a:alpha val="7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Intelligent.</a:t>
            </a:r>
            <a:endParaRPr lang="en-US" sz="2930" dirty="0"/>
          </a:p>
        </p:txBody>
      </p:sp>
      <p:sp>
        <p:nvSpPr>
          <p:cNvPr id="17" name="Text 15"/>
          <p:cNvSpPr/>
          <p:nvPr/>
        </p:nvSpPr>
        <p:spPr>
          <a:xfrm>
            <a:off x="4143375" y="1895773"/>
            <a:ext cx="85725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9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86360" dist="50800" dir="16200000" algn="bl" rotWithShape="0">
              <a:srgbClr val="00C9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84010" y="2053084"/>
            <a:ext cx="2975832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35"/>
              </a:lnSpc>
              <a:buNone/>
            </a:pPr>
            <a:r>
              <a:rPr lang="en-US" sz="1690" kern="0" spc="68" dirty="0">
                <a:solidFill>
                  <a:srgbClr val="00C9FF"/>
                </a:solidFill>
                <a:effectLst>
                  <a:glow rad="1073151">
                    <a:srgbClr val="00C9FF">
                      <a:alpha val="6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 —  ICIVC 2026</a:t>
            </a:r>
            <a:endParaRPr lang="en-US" sz="1690" dirty="0"/>
          </a:p>
        </p:txBody>
      </p:sp>
      <p:sp>
        <p:nvSpPr>
          <p:cNvPr id="19" name="Text 17"/>
          <p:cNvSpPr/>
          <p:nvPr/>
        </p:nvSpPr>
        <p:spPr>
          <a:xfrm>
            <a:off x="3500847" y="2432149"/>
            <a:ext cx="214215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kern="0" spc="115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362152" y="2779365"/>
            <a:ext cx="35421" cy="3542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54723" y="2779365"/>
            <a:ext cx="35421" cy="3542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47295" y="2772370"/>
            <a:ext cx="49411" cy="49411"/>
          </a:xfrm>
          <a:prstGeom prst="ellipse">
            <a:avLst/>
          </a:prstGeom>
          <a:solidFill>
            <a:srgbClr val="00C9FF"/>
          </a:solidFill>
          <a:ln/>
          <a:effectLst>
            <a:outerShdw blurRad="57150" dist="50800" dir="16200000" algn="bl" rotWithShape="0">
              <a:srgbClr val="00C9FF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53855" y="2779365"/>
            <a:ext cx="35421" cy="3542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6427" y="2779365"/>
            <a:ext cx="35421" cy="35421"/>
          </a:xfrm>
          <a:prstGeom prst="ellipse">
            <a:avLst/>
          </a:prstGeom>
          <a:solidFill>
            <a:srgbClr val="00C9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50906" y="2993231"/>
            <a:ext cx="1929110" cy="782092"/>
          </a:xfrm>
          <a:prstGeom prst="roundRect">
            <a:avLst>
              <a:gd name="adj" fmla="val 12828"/>
            </a:avLst>
          </a:prstGeom>
          <a:solidFill>
            <a:srgbClr val="0D1F3A">
              <a:alpha val="75000"/>
            </a:srgbClr>
          </a:soli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74775" y="324832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4287" y="3317834"/>
            <a:ext cx="132588" cy="13258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132856" y="3178225"/>
            <a:ext cx="13607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6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Collaborate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2132856" y="3342531"/>
            <a:ext cx="126180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kern="0" spc="7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continue the conversation</a:t>
            </a:r>
            <a:endParaRPr lang="en-US" sz="650" dirty="0"/>
          </a:p>
        </p:txBody>
      </p:sp>
      <p:sp>
        <p:nvSpPr>
          <p:cNvPr id="35" name="Text 31"/>
          <p:cNvSpPr/>
          <p:nvPr/>
        </p:nvSpPr>
        <p:spPr>
          <a:xfrm>
            <a:off x="5752951" y="2993231"/>
            <a:ext cx="1783110" cy="782092"/>
          </a:xfrm>
          <a:prstGeom prst="roundRect">
            <a:avLst>
              <a:gd name="adj" fmla="val 12828"/>
            </a:avLst>
          </a:prstGeom>
          <a:solidFill>
            <a:srgbClr val="0D1F3A">
              <a:alpha val="75000"/>
            </a:srgbClr>
          </a:solidFill>
          <a:ln w="9525">
            <a:solidFill>
              <a:srgbClr val="00C9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919936" y="324832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00C9FF">
              <a:alpha val="12000"/>
            </a:srgbClr>
          </a:solidFill>
          <a:ln w="9525">
            <a:solidFill>
              <a:srgbClr val="00C9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448" y="3317834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278017" y="3240137"/>
            <a:ext cx="12001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6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</a:t>
            </a:r>
            <a:endParaRPr lang="en-US" sz="790" dirty="0"/>
          </a:p>
        </p:txBody>
      </p:sp>
      <p:sp>
        <p:nvSpPr>
          <p:cNvPr id="39" name="Text 34"/>
          <p:cNvSpPr/>
          <p:nvPr/>
        </p:nvSpPr>
        <p:spPr>
          <a:xfrm>
            <a:off x="6278017" y="3404443"/>
            <a:ext cx="1200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kern="0" spc="7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discussions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3271093" y="3903464"/>
            <a:ext cx="2601813" cy="350490"/>
          </a:xfrm>
          <a:prstGeom prst="roundRect">
            <a:avLst>
              <a:gd name="adj" fmla="val 48917"/>
            </a:avLst>
          </a:prstGeom>
          <a:solidFill>
            <a:srgbClr val="0D1F3A">
              <a:alpha val="85000"/>
            </a:srgbClr>
          </a:solidFill>
          <a:ln w="9525">
            <a:solidFill>
              <a:srgbClr val="00C9FF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1476" y="4012415"/>
            <a:ext cx="132588" cy="1325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597771" y="3970139"/>
            <a:ext cx="2351216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linkedin.com/in/manjugeorge-ge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6816</TotalTime>
  <Words>1866</Words>
  <Application>Microsoft Office PowerPoint</Application>
  <PresentationFormat>On-screen Show (16:9)</PresentationFormat>
  <Paragraphs>364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Johny Joseph</cp:lastModifiedBy>
  <cp:revision>14</cp:revision>
  <dcterms:created xsi:type="dcterms:W3CDTF">2026-06-09T22:08:21Z</dcterms:created>
  <dcterms:modified xsi:type="dcterms:W3CDTF">2026-06-20T03:31:40Z</dcterms:modified>
</cp:coreProperties>
</file>